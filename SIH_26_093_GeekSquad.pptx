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Trade Gothic Condensed Bold" charset="1" panose="020B0806040303020004"/>
      <p:regular r:id="rId19"/>
    </p:embeddedFont>
    <p:embeddedFont>
      <p:font typeface="Arial Italics" charset="1" panose="020B0604020202090204"/>
      <p:regular r:id="rId21"/>
    </p:embeddedFont>
    <p:embeddedFont>
      <p:font typeface="Cambria Bold" charset="1" panose="02040803050406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-782576"/>
            <a:ext cx="15786736" cy="3163151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2400" y="3834172"/>
            <a:ext cx="9534873" cy="565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– Custom / Institute-level PS</a:t>
            </a: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NexGenGov</a:t>
            </a: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Theme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PS Category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Software</a:t>
            </a: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Team ID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 SIH_26_093</a:t>
            </a:r>
          </a:p>
          <a:p>
            <a:pPr algn="l">
              <a:lnSpc>
                <a:spcPts val="7199"/>
              </a:lnSpc>
            </a:pPr>
            <a:r>
              <a:rPr lang="en-US" sz="2999" b="true">
                <a:solidFill>
                  <a:srgbClr val="FF9123"/>
                </a:solidFill>
                <a:latin typeface="Arial Bold"/>
                <a:ea typeface="Arial Bold"/>
                <a:cs typeface="Arial Bold"/>
                <a:sym typeface="Arial Bold"/>
              </a:rPr>
              <a:t>Team Name-</a:t>
            </a: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Geek Squad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4351" y="3572401"/>
            <a:ext cx="1570024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23AF5F"/>
                </a:solidFill>
                <a:latin typeface="Arial Bold"/>
                <a:ea typeface="Arial Bold"/>
                <a:cs typeface="Arial Bold"/>
                <a:sym typeface="Arial Bold"/>
              </a:rPr>
              <a:t>NexGe</a:t>
            </a:r>
            <a:r>
              <a:rPr lang="en-US" sz="1950" b="true">
                <a:solidFill>
                  <a:srgbClr val="23AF5F"/>
                </a:solidFill>
                <a:latin typeface="Arial Bold"/>
                <a:ea typeface="Arial Bold"/>
                <a:cs typeface="Arial Bold"/>
                <a:sym typeface="Arial Bold"/>
              </a:rPr>
              <a:t>nGov</a:t>
            </a:r>
            <a:r>
              <a:rPr lang="en-US" b="true" sz="19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is an intelligent governance layer that converts citizen reports and public-service data into actionable insights for authorities.</a:t>
            </a:r>
          </a:p>
          <a:p>
            <a:pPr algn="l">
              <a:lnSpc>
                <a:spcPts val="2340"/>
              </a:lnSpc>
            </a:pPr>
            <a:r>
              <a:rPr lang="en-US" b="true" sz="19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It combines AI, historical context and location intelligence to understand what happened, why it may be happening and what action should come next.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1088" y="5354220"/>
            <a:ext cx="5392731" cy="4427955"/>
            <a:chOff x="0" y="0"/>
            <a:chExt cx="5456432" cy="44802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56432" cy="4480260"/>
            </a:xfrm>
            <a:custGeom>
              <a:avLst/>
              <a:gdLst/>
              <a:ahLst/>
              <a:cxnLst/>
              <a:rect r="r" b="b" t="t" l="l"/>
              <a:pathLst>
                <a:path h="4480260" w="5456432">
                  <a:moveTo>
                    <a:pt x="0" y="746745"/>
                  </a:moveTo>
                  <a:cubicBezTo>
                    <a:pt x="0" y="334338"/>
                    <a:pt x="329332" y="0"/>
                    <a:pt x="735563" y="0"/>
                  </a:cubicBezTo>
                  <a:lnTo>
                    <a:pt x="4720870" y="0"/>
                  </a:lnTo>
                  <a:cubicBezTo>
                    <a:pt x="5127101" y="0"/>
                    <a:pt x="5456432" y="334338"/>
                    <a:pt x="5456432" y="746745"/>
                  </a:cubicBezTo>
                  <a:lnTo>
                    <a:pt x="5456432" y="3733515"/>
                  </a:lnTo>
                  <a:cubicBezTo>
                    <a:pt x="5456432" y="4145922"/>
                    <a:pt x="5127101" y="4480260"/>
                    <a:pt x="4720870" y="4480260"/>
                  </a:cubicBezTo>
                  <a:lnTo>
                    <a:pt x="735563" y="4480260"/>
                  </a:lnTo>
                  <a:cubicBezTo>
                    <a:pt x="329332" y="4480260"/>
                    <a:pt x="0" y="4145922"/>
                    <a:pt x="0" y="3733515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16225" y="5493097"/>
            <a:ext cx="452170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Operati</a:t>
            </a:r>
            <a:r>
              <a:rPr lang="en-US" b="true" sz="210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onal Flow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11088" y="5978227"/>
            <a:ext cx="5318055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237490" lvl="2">
              <a:lnSpc>
                <a:spcPts val="1980"/>
              </a:lnSpc>
              <a:buFont typeface="Arial"/>
              <a:buChar char="⚬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Multi-Mod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al Intake: 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Citizen files reports via Image Upload, Map Location Pinning, and Speech Dictation (Bilingual/Hinglish).</a:t>
            </a:r>
          </a:p>
          <a:p>
            <a:pPr algn="l" marL="712470" indent="-237490" lvl="2">
              <a:lnSpc>
                <a:spcPts val="1980"/>
              </a:lnSpc>
              <a:buFont typeface="Arial"/>
              <a:buChar char="⚬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AI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-Driven Triage: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Automated categorization, duplicate filtering within 100m, and non-civic spam rejection.</a:t>
            </a:r>
          </a:p>
          <a:p>
            <a:pPr algn="l" marL="712470" indent="-237490" lvl="2">
              <a:lnSpc>
                <a:spcPts val="1980"/>
              </a:lnSpc>
              <a:buFont typeface="Arial"/>
              <a:buChar char="⚬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GIS Root-Cause Mapping: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Real-time spatial-temporal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co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rrelation check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ing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against municipal utility line layouts.</a:t>
            </a:r>
          </a:p>
          <a:p>
            <a:pPr algn="l" marL="712470" indent="-237490" lvl="2">
              <a:lnSpc>
                <a:spcPts val="1980"/>
              </a:lnSpc>
              <a:buFont typeface="Arial"/>
              <a:buChar char="⚬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Orche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strated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 Resolu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tion: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Instant generation of cross-department task chains and notifications (SMS/WhatsApp).</a:t>
            </a:r>
          </a:p>
          <a:p>
            <a:pPr algn="l">
              <a:lnSpc>
                <a:spcPts val="198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717727" y="5354220"/>
            <a:ext cx="6257274" cy="4427955"/>
            <a:chOff x="0" y="0"/>
            <a:chExt cx="8343033" cy="59039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43033" cy="5903940"/>
            </a:xfrm>
            <a:custGeom>
              <a:avLst/>
              <a:gdLst/>
              <a:ahLst/>
              <a:cxnLst/>
              <a:rect r="r" b="b" t="t" l="l"/>
              <a:pathLst>
                <a:path h="5903940" w="8343033">
                  <a:moveTo>
                    <a:pt x="0" y="984036"/>
                  </a:moveTo>
                  <a:cubicBezTo>
                    <a:pt x="0" y="440580"/>
                    <a:pt x="503557" y="0"/>
                    <a:pt x="1124695" y="0"/>
                  </a:cubicBezTo>
                  <a:lnTo>
                    <a:pt x="7218338" y="0"/>
                  </a:lnTo>
                  <a:cubicBezTo>
                    <a:pt x="7839476" y="0"/>
                    <a:pt x="8343033" y="440580"/>
                    <a:pt x="8343033" y="984036"/>
                  </a:cubicBezTo>
                  <a:lnTo>
                    <a:pt x="8343033" y="4919904"/>
                  </a:lnTo>
                  <a:cubicBezTo>
                    <a:pt x="8343033" y="5463360"/>
                    <a:pt x="7839476" y="5903940"/>
                    <a:pt x="7218338" y="5903940"/>
                  </a:cubicBezTo>
                  <a:lnTo>
                    <a:pt x="1124695" y="5903940"/>
                  </a:lnTo>
                  <a:cubicBezTo>
                    <a:pt x="503557" y="5903940"/>
                    <a:pt x="0" y="5463360"/>
                    <a:pt x="0" y="4919904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543070" y="5502622"/>
            <a:ext cx="174657" cy="4132561"/>
            <a:chOff x="0" y="0"/>
            <a:chExt cx="228010" cy="539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010" cy="5394960"/>
            </a:xfrm>
            <a:custGeom>
              <a:avLst/>
              <a:gdLst/>
              <a:ahLst/>
              <a:cxnLst/>
              <a:rect r="r" b="b" t="t" l="l"/>
              <a:pathLst>
                <a:path h="5394960" w="22801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186617" y="5627707"/>
            <a:ext cx="704694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K</a:t>
            </a:r>
            <a:r>
              <a:rPr lang="en-US" b="true" sz="210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ey Differentiators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054669" y="6197302"/>
            <a:ext cx="5564339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Silo-Bust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ing Orchestration: 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Automatically identifies when a single symptom (e.g., road collapse) requires joint action across departments (e.g., PWD + Water Department).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Visual SLA Auditing: 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Field crews must submit resolution photos; AI performs visual comparison against original photos before allowing ticket closure.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Expl</a:t>
            </a: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ainable Priority Scoring: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Dynamically computes priority using Severity, Proximity (Schools/Hospitals), and Spatial Clustering.</a:t>
            </a:r>
          </a:p>
          <a:p>
            <a:pPr algn="l">
              <a:lnSpc>
                <a:spcPts val="198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3533729" y="5354220"/>
            <a:ext cx="4252252" cy="4427955"/>
            <a:chOff x="0" y="0"/>
            <a:chExt cx="5669669" cy="5903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669" cy="5903940"/>
            </a:xfrm>
            <a:custGeom>
              <a:avLst/>
              <a:gdLst/>
              <a:ahLst/>
              <a:cxnLst/>
              <a:rect r="r" b="b" t="t" l="l"/>
              <a:pathLst>
                <a:path h="5903940" w="5669669">
                  <a:moveTo>
                    <a:pt x="0" y="984036"/>
                  </a:moveTo>
                  <a:cubicBezTo>
                    <a:pt x="0" y="440580"/>
                    <a:pt x="342202" y="0"/>
                    <a:pt x="764308" y="0"/>
                  </a:cubicBezTo>
                  <a:lnTo>
                    <a:pt x="4905361" y="0"/>
                  </a:lnTo>
                  <a:cubicBezTo>
                    <a:pt x="5327467" y="0"/>
                    <a:pt x="5669669" y="440580"/>
                    <a:pt x="5669669" y="984036"/>
                  </a:cubicBezTo>
                  <a:lnTo>
                    <a:pt x="5669669" y="4919904"/>
                  </a:lnTo>
                  <a:cubicBezTo>
                    <a:pt x="5669669" y="5463360"/>
                    <a:pt x="5327467" y="5903940"/>
                    <a:pt x="4905361" y="5903940"/>
                  </a:cubicBezTo>
                  <a:lnTo>
                    <a:pt x="764308" y="5903940"/>
                  </a:lnTo>
                  <a:cubicBezTo>
                    <a:pt x="342202" y="5903940"/>
                    <a:pt x="0" y="5463360"/>
                    <a:pt x="0" y="4919904"/>
                  </a:cubicBezTo>
                  <a:close/>
                </a:path>
              </a:pathLst>
            </a:custGeom>
            <a:solidFill>
              <a:srgbClr val="F5F7FA"/>
            </a:solidFill>
            <a:ln w="15240" cap="sq">
              <a:solidFill>
                <a:srgbClr val="3C485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359072" y="5492452"/>
            <a:ext cx="174657" cy="4132561"/>
            <a:chOff x="0" y="0"/>
            <a:chExt cx="228010" cy="539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010" cy="5394960"/>
            </a:xfrm>
            <a:custGeom>
              <a:avLst/>
              <a:gdLst/>
              <a:ahLst/>
              <a:cxnLst/>
              <a:rect r="r" b="b" t="t" l="l"/>
              <a:pathLst>
                <a:path h="5394960" w="22801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6629" y="5968702"/>
            <a:ext cx="3575215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1: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Utility Fracture: 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Pothole reported near an active water pipe triggers joint task routing to both PWD and Water Dept.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2: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 Visual Work Audit: Contractor uploads "After" photo; AI compares "Before/After" states to verify quality of surface restoration.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Scenario 3: </a:t>
            </a:r>
            <a:r>
              <a:rPr lang="en-US" b="true" sz="1650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SLA Escalation: Breaches in target SLAs trigger automatic warnings and high-priority escalation logs directly to Ward Officers.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745352" y="5580082"/>
            <a:ext cx="704694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2181F"/>
                </a:solidFill>
                <a:latin typeface="Arial Bold"/>
                <a:ea typeface="Arial Bold"/>
                <a:cs typeface="Arial Bold"/>
                <a:sym typeface="Arial Bold"/>
              </a:rPr>
              <a:t>Core Demonstration Scenarios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0080" y="5497462"/>
            <a:ext cx="171008" cy="4046220"/>
            <a:chOff x="0" y="0"/>
            <a:chExt cx="228010" cy="5394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010" cy="5394960"/>
            </a:xfrm>
            <a:custGeom>
              <a:avLst/>
              <a:gdLst/>
              <a:ahLst/>
              <a:cxnLst/>
              <a:rect r="r" b="b" t="t" l="l"/>
              <a:pathLst>
                <a:path h="5394960" w="228010">
                  <a:moveTo>
                    <a:pt x="0" y="0"/>
                  </a:moveTo>
                  <a:lnTo>
                    <a:pt x="228010" y="0"/>
                  </a:lnTo>
                  <a:lnTo>
                    <a:pt x="228010" y="5394960"/>
                  </a:lnTo>
                  <a:lnTo>
                    <a:pt x="0" y="5394960"/>
                  </a:lnTo>
                  <a:close/>
                </a:path>
              </a:pathLst>
            </a:custGeom>
            <a:solidFill>
              <a:srgbClr val="FF912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4855" y="1859044"/>
            <a:ext cx="16797833" cy="1418082"/>
            <a:chOff x="0" y="0"/>
            <a:chExt cx="22397110" cy="18907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97211" cy="1890776"/>
            </a:xfrm>
            <a:custGeom>
              <a:avLst/>
              <a:gdLst/>
              <a:ahLst/>
              <a:cxnLst/>
              <a:rect r="r" b="b" t="t" l="l"/>
              <a:pathLst>
                <a:path h="1890776" w="22397211">
                  <a:moveTo>
                    <a:pt x="0" y="185420"/>
                  </a:moveTo>
                  <a:cubicBezTo>
                    <a:pt x="0" y="82931"/>
                    <a:pt x="82931" y="0"/>
                    <a:pt x="185420" y="0"/>
                  </a:cubicBezTo>
                  <a:lnTo>
                    <a:pt x="22211792" y="0"/>
                  </a:lnTo>
                  <a:cubicBezTo>
                    <a:pt x="22314154" y="0"/>
                    <a:pt x="22397211" y="82931"/>
                    <a:pt x="22397211" y="185420"/>
                  </a:cubicBezTo>
                  <a:lnTo>
                    <a:pt x="22397211" y="1705356"/>
                  </a:lnTo>
                  <a:cubicBezTo>
                    <a:pt x="22397211" y="1807718"/>
                    <a:pt x="22314281" y="1890776"/>
                    <a:pt x="22211792" y="1890776"/>
                  </a:cubicBezTo>
                  <a:lnTo>
                    <a:pt x="185420" y="1890776"/>
                  </a:lnTo>
                  <a:cubicBezTo>
                    <a:pt x="83058" y="1890776"/>
                    <a:pt x="0" y="1807845"/>
                    <a:pt x="0" y="1705356"/>
                  </a:cubicBezTo>
                  <a:close/>
                </a:path>
              </a:pathLst>
            </a:custGeom>
            <a:solidFill>
              <a:srgbClr val="0B2545"/>
            </a:solidFill>
            <a:ln w="19050" cap="sq">
              <a:solidFill>
                <a:srgbClr val="0B254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83564" y="1978297"/>
            <a:ext cx="3673488" cy="649123"/>
            <a:chOff x="0" y="0"/>
            <a:chExt cx="4897984" cy="8654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97984" cy="865498"/>
            </a:xfrm>
            <a:custGeom>
              <a:avLst/>
              <a:gdLst/>
              <a:ahLst/>
              <a:cxnLst/>
              <a:rect r="r" b="b" t="t" l="l"/>
              <a:pathLst>
                <a:path h="865498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34" r="0" b="-4830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2,385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83564" y="2472073"/>
            <a:ext cx="3673488" cy="576072"/>
            <a:chOff x="0" y="0"/>
            <a:chExt cx="4897984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97984" cy="768096"/>
            </a:xfrm>
            <a:custGeom>
              <a:avLst/>
              <a:gdLst/>
              <a:ahLst/>
              <a:cxnLst/>
              <a:rect r="r" b="b" t="t" l="l"/>
              <a:pathLst>
                <a:path h="768096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51" r="0" b="-742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pothole-crash deaths in 2024 alone; 9,438 since 2020  (MoRTH, tabled in Parliament)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113668" y="1978297"/>
            <a:ext cx="3673488" cy="649123"/>
            <a:chOff x="0" y="0"/>
            <a:chExt cx="4897984" cy="8654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97984" cy="865498"/>
            </a:xfrm>
            <a:custGeom>
              <a:avLst/>
              <a:gdLst/>
              <a:ahLst/>
              <a:cxnLst/>
              <a:rect r="r" b="b" t="t" l="l"/>
              <a:pathLst>
                <a:path h="865498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34" r="0" b="-4830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~50%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113668" y="2472073"/>
            <a:ext cx="3673488" cy="576072"/>
            <a:chOff x="0" y="0"/>
            <a:chExt cx="4897984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97984" cy="768096"/>
            </a:xfrm>
            <a:custGeom>
              <a:avLst/>
              <a:gdLst/>
              <a:ahLst/>
              <a:cxnLst/>
              <a:rect r="r" b="b" t="t" l="l"/>
              <a:pathLst>
                <a:path h="768096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51" r="0" b="-7425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citizen satisfaction on CPGRAMS, despite record disposal volumes  (IMPRI, 2025)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4925837" y="2051066"/>
            <a:ext cx="19055" cy="924310"/>
          </a:xfrm>
          <a:prstGeom prst="line">
            <a:avLst/>
          </a:prstGeom>
          <a:ln cap="rnd" w="9525">
            <a:solidFill>
              <a:srgbClr val="2C4A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9143771" y="1978297"/>
            <a:ext cx="3673488" cy="649123"/>
            <a:chOff x="0" y="0"/>
            <a:chExt cx="4897984" cy="86549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97984" cy="865498"/>
            </a:xfrm>
            <a:custGeom>
              <a:avLst/>
              <a:gdLst/>
              <a:ahLst/>
              <a:cxnLst/>
              <a:rect r="r" b="b" t="t" l="l"/>
              <a:pathLst>
                <a:path h="865498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34" r="0" b="-483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37%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3771" y="2472073"/>
            <a:ext cx="3673488" cy="576072"/>
            <a:chOff x="0" y="0"/>
            <a:chExt cx="4897984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97984" cy="768096"/>
            </a:xfrm>
            <a:custGeom>
              <a:avLst/>
              <a:gdLst/>
              <a:ahLst/>
              <a:cxnLst/>
              <a:rect r="r" b="b" t="t" l="l"/>
              <a:pathLst>
                <a:path h="768096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51" r="0" b="-742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staff posts vacant across the 393 urban local bodies audited by the CAG  (2024)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8955941" y="2051066"/>
            <a:ext cx="19055" cy="924310"/>
          </a:xfrm>
          <a:prstGeom prst="line">
            <a:avLst/>
          </a:prstGeom>
          <a:ln cap="rnd" w="9525">
            <a:solidFill>
              <a:srgbClr val="2C4A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3173875" y="1978297"/>
            <a:ext cx="3673488" cy="649123"/>
            <a:chOff x="0" y="0"/>
            <a:chExt cx="4897984" cy="8654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97984" cy="865498"/>
            </a:xfrm>
            <a:custGeom>
              <a:avLst/>
              <a:gdLst/>
              <a:ahLst/>
              <a:cxnLst/>
              <a:rect r="r" b="b" t="t" l="l"/>
              <a:pathLst>
                <a:path h="865498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865498"/>
                  </a:lnTo>
                  <a:lnTo>
                    <a:pt x="0" y="865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34" r="0" b="-4830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897984" cy="88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49~65%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173875" y="2472073"/>
            <a:ext cx="3673488" cy="576072"/>
            <a:chOff x="0" y="0"/>
            <a:chExt cx="4897984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97984" cy="768096"/>
            </a:xfrm>
            <a:custGeom>
              <a:avLst/>
              <a:gdLst/>
              <a:ahLst/>
              <a:cxnLst/>
              <a:rect r="r" b="b" t="t" l="l"/>
              <a:pathLst>
                <a:path h="768096" w="4897984">
                  <a:moveTo>
                    <a:pt x="0" y="0"/>
                  </a:moveTo>
                  <a:lnTo>
                    <a:pt x="4897984" y="0"/>
                  </a:lnTo>
                  <a:lnTo>
                    <a:pt x="48979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51" r="0" b="-742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89798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>
                  <a:solidFill>
                    <a:srgbClr val="CFDDEB"/>
                  </a:solidFill>
                  <a:latin typeface="Arial"/>
                  <a:ea typeface="Arial"/>
                  <a:cs typeface="Arial"/>
                  <a:sym typeface="Arial"/>
                </a:rPr>
                <a:t>non-revenue water in audited cities; leaks that resurface as road failure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>
            <a:off x="12986044" y="2051066"/>
            <a:ext cx="19055" cy="924310"/>
          </a:xfrm>
          <a:prstGeom prst="line">
            <a:avLst/>
          </a:prstGeom>
          <a:ln cap="rnd" w="9525">
            <a:solidFill>
              <a:srgbClr val="2C4A6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5167" y="1781928"/>
            <a:ext cx="6118072" cy="7954730"/>
            <a:chOff x="0" y="0"/>
            <a:chExt cx="7919466" cy="102969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19466" cy="10296906"/>
            </a:xfrm>
            <a:custGeom>
              <a:avLst/>
              <a:gdLst/>
              <a:ahLst/>
              <a:cxnLst/>
              <a:rect r="r" b="b" t="t" l="l"/>
              <a:pathLst>
                <a:path h="10296906" w="7919466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7736078" y="0"/>
                  </a:lnTo>
                  <a:cubicBezTo>
                    <a:pt x="7837297" y="0"/>
                    <a:pt x="7919466" y="82042"/>
                    <a:pt x="7919466" y="183388"/>
                  </a:cubicBezTo>
                  <a:lnTo>
                    <a:pt x="7919466" y="10113518"/>
                  </a:lnTo>
                  <a:cubicBezTo>
                    <a:pt x="7919466" y="10214737"/>
                    <a:pt x="7837424" y="10296906"/>
                    <a:pt x="7736078" y="10296906"/>
                  </a:cubicBezTo>
                  <a:lnTo>
                    <a:pt x="183388" y="10296906"/>
                  </a:lnTo>
                  <a:cubicBezTo>
                    <a:pt x="82042" y="10296906"/>
                    <a:pt x="0" y="10214864"/>
                    <a:pt x="0" y="10113518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41600" y="2071849"/>
            <a:ext cx="5425205" cy="430945"/>
            <a:chOff x="0" y="0"/>
            <a:chExt cx="7022592" cy="557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2592" cy="557832"/>
            </a:xfrm>
            <a:custGeom>
              <a:avLst/>
              <a:gdLst/>
              <a:ahLst/>
              <a:cxnLst/>
              <a:rect r="r" b="b" t="t" l="l"/>
              <a:pathLst>
                <a:path h="55783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557832"/>
                  </a:lnTo>
                  <a:lnTo>
                    <a:pt x="0" y="557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01" r="0" b="-1911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022592" cy="567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b="true" sz="2124" spc="129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PROCESSING ARCHITECTURE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1789" y="2740188"/>
            <a:ext cx="443467" cy="443467"/>
            <a:chOff x="0" y="0"/>
            <a:chExt cx="574040" cy="574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41600" y="2749999"/>
            <a:ext cx="423844" cy="423844"/>
            <a:chOff x="0" y="0"/>
            <a:chExt cx="54864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8470" y="2665231"/>
            <a:ext cx="4888335" cy="403663"/>
            <a:chOff x="0" y="0"/>
            <a:chExt cx="6327648" cy="5225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 &amp; data sources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8470" y="2990178"/>
            <a:ext cx="4888335" cy="598767"/>
            <a:chOff x="0" y="0"/>
            <a:chExt cx="6327648" cy="7750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Text · image · GPS · voice · departmental history · public datasets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041260" y="3189838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831789" y="3743286"/>
            <a:ext cx="443467" cy="443467"/>
            <a:chOff x="0" y="0"/>
            <a:chExt cx="574040" cy="574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41600" y="3753097"/>
            <a:ext cx="423844" cy="423844"/>
            <a:chOff x="0" y="0"/>
            <a:chExt cx="54864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8470" y="3668328"/>
            <a:ext cx="4888335" cy="403663"/>
            <a:chOff x="0" y="0"/>
            <a:chExt cx="6327648" cy="5225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Ingestion &amp; validation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8470" y="3993275"/>
            <a:ext cx="4888335" cy="598767"/>
            <a:chOff x="0" y="0"/>
            <a:chExt cx="6327648" cy="7750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EXIF and coordinate checks, image compression, PII separation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41260" y="4192936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831789" y="4746384"/>
            <a:ext cx="443467" cy="443467"/>
            <a:chOff x="0" y="0"/>
            <a:chExt cx="574040" cy="574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41600" y="4756195"/>
            <a:ext cx="423844" cy="423844"/>
            <a:chOff x="0" y="0"/>
            <a:chExt cx="54864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8470" y="4671426"/>
            <a:ext cx="4888335" cy="403663"/>
            <a:chOff x="0" y="0"/>
            <a:chExt cx="6327648" cy="5225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understanding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8470" y="4996373"/>
            <a:ext cx="4888335" cy="598767"/>
            <a:chOff x="0" y="0"/>
            <a:chExt cx="6327648" cy="7750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Multimodal classification, severity read, entity and location extraction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1041260" y="5196033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831789" y="5749481"/>
            <a:ext cx="443467" cy="443467"/>
            <a:chOff x="0" y="0"/>
            <a:chExt cx="574040" cy="574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41600" y="5759292"/>
            <a:ext cx="423844" cy="423844"/>
            <a:chOff x="0" y="0"/>
            <a:chExt cx="54864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78470" y="5674524"/>
            <a:ext cx="4888335" cy="403663"/>
            <a:chOff x="0" y="0"/>
            <a:chExt cx="6327648" cy="52251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retrieval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8470" y="5999471"/>
            <a:ext cx="4888335" cy="598767"/>
            <a:chOff x="0" y="0"/>
            <a:chExt cx="6327648" cy="77506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Haversine radius query + embedding similarity over past incidents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>
            <a:off x="1041260" y="6199131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831789" y="6752579"/>
            <a:ext cx="443467" cy="443467"/>
            <a:chOff x="0" y="0"/>
            <a:chExt cx="574040" cy="574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41600" y="6762390"/>
            <a:ext cx="423844" cy="423844"/>
            <a:chOff x="0" y="0"/>
            <a:chExt cx="54864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8470" y="6677621"/>
            <a:ext cx="4888335" cy="403663"/>
            <a:chOff x="0" y="0"/>
            <a:chExt cx="6327648" cy="52251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Governance intelligence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8470" y="7002569"/>
            <a:ext cx="4888335" cy="598767"/>
            <a:chOff x="0" y="0"/>
            <a:chExt cx="6327648" cy="77506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Priority score, recurrence detection, root-cause hypothesis, action draft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>
            <a:off x="1041260" y="7202229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831789" y="7755677"/>
            <a:ext cx="443467" cy="443467"/>
            <a:chOff x="0" y="0"/>
            <a:chExt cx="574040" cy="574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41600" y="7765488"/>
            <a:ext cx="423844" cy="423844"/>
            <a:chOff x="0" y="0"/>
            <a:chExt cx="54864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8470" y="7680719"/>
            <a:ext cx="4888335" cy="403663"/>
            <a:chOff x="0" y="0"/>
            <a:chExt cx="6327648" cy="52251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Officer dashboard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78470" y="8005666"/>
            <a:ext cx="4888335" cy="598767"/>
            <a:chOff x="0" y="0"/>
            <a:chExt cx="6327648" cy="77506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Case, map cluster, evidence trail, recommendation, accept / edit / reject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>
            <a:off x="1041260" y="8205326"/>
            <a:ext cx="24526" cy="490752"/>
          </a:xfrm>
          <a:prstGeom prst="line">
            <a:avLst/>
          </a:prstGeom>
          <a:ln cap="rnd" w="9525">
            <a:solidFill>
              <a:srgbClr val="DC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831789" y="8758774"/>
            <a:ext cx="443467" cy="443467"/>
            <a:chOff x="0" y="0"/>
            <a:chExt cx="574040" cy="5740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841600" y="8768586"/>
            <a:ext cx="423844" cy="423844"/>
            <a:chOff x="0" y="0"/>
            <a:chExt cx="54864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548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78470" y="8683817"/>
            <a:ext cx="4888335" cy="403663"/>
            <a:chOff x="0" y="0"/>
            <a:chExt cx="6327648" cy="52251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27648" cy="522517"/>
            </a:xfrm>
            <a:custGeom>
              <a:avLst/>
              <a:gdLst/>
              <a:ahLst/>
              <a:cxnLst/>
              <a:rect r="r" b="b" t="t" l="l"/>
              <a:pathLst>
                <a:path h="52251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22517"/>
                  </a:lnTo>
                  <a:lnTo>
                    <a:pt x="0" y="5225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962" r="0" b="-17796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6327648" cy="53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Orchestration &amp; feedback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8470" y="9008764"/>
            <a:ext cx="4888335" cy="598767"/>
            <a:chOff x="0" y="0"/>
            <a:chExt cx="6327648" cy="77506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27648" cy="775067"/>
            </a:xfrm>
            <a:custGeom>
              <a:avLst/>
              <a:gdLst/>
              <a:ahLst/>
              <a:cxnLst/>
              <a:rect r="r" b="b" t="t" l="l"/>
              <a:pathLst>
                <a:path h="775067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775067"/>
                  </a:lnTo>
                  <a:lnTo>
                    <a:pt x="0" y="775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25" r="0" b="-10862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6327648" cy="794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9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Cross-department tasks, SLA clock, outcome capture, weight re-tuning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909341" y="1781928"/>
            <a:ext cx="5694228" cy="4874796"/>
            <a:chOff x="0" y="0"/>
            <a:chExt cx="7370826" cy="631012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70826" cy="6310122"/>
            </a:xfrm>
            <a:custGeom>
              <a:avLst/>
              <a:gdLst/>
              <a:ahLst/>
              <a:cxnLst/>
              <a:rect r="r" b="b" t="t" l="l"/>
              <a:pathLst>
                <a:path h="6310122" w="7370826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7187438" y="0"/>
                  </a:lnTo>
                  <a:cubicBezTo>
                    <a:pt x="7288784" y="0"/>
                    <a:pt x="7370826" y="82169"/>
                    <a:pt x="7370826" y="183388"/>
                  </a:cubicBezTo>
                  <a:lnTo>
                    <a:pt x="7370826" y="6126734"/>
                  </a:lnTo>
                  <a:cubicBezTo>
                    <a:pt x="7370826" y="6228080"/>
                    <a:pt x="7288657" y="6310122"/>
                    <a:pt x="7187438" y="6310122"/>
                  </a:cubicBezTo>
                  <a:lnTo>
                    <a:pt x="183388" y="6310122"/>
                  </a:lnTo>
                  <a:cubicBezTo>
                    <a:pt x="82169" y="6310122"/>
                    <a:pt x="0" y="6227953"/>
                    <a:pt x="0" y="6126734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7255775" y="2071849"/>
            <a:ext cx="5001360" cy="404631"/>
            <a:chOff x="0" y="0"/>
            <a:chExt cx="6473952" cy="52376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73952" cy="523769"/>
            </a:xfrm>
            <a:custGeom>
              <a:avLst/>
              <a:gdLst/>
              <a:ahLst/>
              <a:cxnLst/>
              <a:rect r="r" b="b" t="t" l="l"/>
              <a:pathLst>
                <a:path h="523769" w="6473952">
                  <a:moveTo>
                    <a:pt x="0" y="0"/>
                  </a:moveTo>
                  <a:lnTo>
                    <a:pt x="6473952" y="0"/>
                  </a:lnTo>
                  <a:lnTo>
                    <a:pt x="6473952" y="523769"/>
                  </a:lnTo>
                  <a:lnTo>
                    <a:pt x="0" y="5237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58" r="0" b="-18972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6473952" cy="533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DECISION ENGINE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255775" y="2523949"/>
            <a:ext cx="5001360" cy="367332"/>
            <a:chOff x="0" y="0"/>
            <a:chExt cx="6473952" cy="47548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473952" cy="475488"/>
            </a:xfrm>
            <a:custGeom>
              <a:avLst/>
              <a:gdLst/>
              <a:ahLst/>
              <a:cxnLst/>
              <a:rect r="r" b="b" t="t" l="l"/>
              <a:pathLst>
                <a:path h="475488" w="6473952">
                  <a:moveTo>
                    <a:pt x="0" y="0"/>
                  </a:moveTo>
                  <a:lnTo>
                    <a:pt x="6473952" y="0"/>
                  </a:lnTo>
                  <a:lnTo>
                    <a:pt x="647395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296" r="0" b="-21529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6473952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Priority score  P  ∈  [0, 100]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255775" y="2891281"/>
            <a:ext cx="5001360" cy="395588"/>
            <a:chOff x="0" y="0"/>
            <a:chExt cx="6473952" cy="5120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473952" cy="512064"/>
            </a:xfrm>
            <a:custGeom>
              <a:avLst/>
              <a:gdLst/>
              <a:ahLst/>
              <a:cxnLst/>
              <a:rect r="r" b="b" t="t" l="l"/>
              <a:pathLst>
                <a:path h="512064" w="6473952">
                  <a:moveTo>
                    <a:pt x="0" y="0"/>
                  </a:moveTo>
                  <a:lnTo>
                    <a:pt x="6473952" y="0"/>
                  </a:lnTo>
                  <a:lnTo>
                    <a:pt x="647395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346" r="0" b="-19634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647395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 = 30S + 25R + 20E + 15V + 10A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284031" y="3428150"/>
            <a:ext cx="367332" cy="367332"/>
            <a:chOff x="0" y="0"/>
            <a:chExt cx="475488" cy="4754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707875" y="3442278"/>
            <a:ext cx="4521004" cy="395588"/>
            <a:chOff x="0" y="0"/>
            <a:chExt cx="5852160" cy="5120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Severity read from the image by the vision model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7284031" y="3845160"/>
            <a:ext cx="367332" cy="367332"/>
            <a:chOff x="0" y="0"/>
            <a:chExt cx="475488" cy="47548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707875" y="3859288"/>
            <a:ext cx="4521004" cy="395588"/>
            <a:chOff x="0" y="0"/>
            <a:chExt cx="5852160" cy="51206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Recurrence: prior incidents within 150 m / 90 days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284031" y="4283451"/>
            <a:ext cx="367332" cy="367332"/>
            <a:chOff x="0" y="0"/>
            <a:chExt cx="475488" cy="47548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7707875" y="4297579"/>
            <a:ext cx="4521004" cy="395588"/>
            <a:chOff x="0" y="0"/>
            <a:chExt cx="5852160" cy="51206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Exposure — road class, footfall, population served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284031" y="4759842"/>
            <a:ext cx="367332" cy="367332"/>
            <a:chOff x="0" y="0"/>
            <a:chExt cx="475488" cy="4754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707875" y="4773970"/>
            <a:ext cx="4521004" cy="395588"/>
            <a:chOff x="0" y="0"/>
            <a:chExt cx="5852160" cy="51206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Vulnerability: school, hospital or market within 200 m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284031" y="5236233"/>
            <a:ext cx="367332" cy="367332"/>
            <a:chOff x="0" y="0"/>
            <a:chExt cx="475488" cy="47548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4754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99"/>
                </a:lnSpc>
              </a:pPr>
              <a:r>
                <a:rPr lang="en-US" sz="1749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707875" y="5250361"/>
            <a:ext cx="4521004" cy="395588"/>
            <a:chOff x="0" y="0"/>
            <a:chExt cx="5852160" cy="5120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9525"/>
              <a:ext cx="58521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39"/>
                </a:lnSpc>
              </a:pPr>
              <a:r>
                <a:rPr lang="en-US" sz="14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Age: days the case has been open against its SLA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7255775" y="5769774"/>
            <a:ext cx="5001360" cy="760138"/>
            <a:chOff x="0" y="0"/>
            <a:chExt cx="6473952" cy="98395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473952" cy="983951"/>
            </a:xfrm>
            <a:custGeom>
              <a:avLst/>
              <a:gdLst/>
              <a:ahLst/>
              <a:cxnLst/>
              <a:rect r="r" b="b" t="t" l="l"/>
              <a:pathLst>
                <a:path h="983951" w="6473952">
                  <a:moveTo>
                    <a:pt x="0" y="0"/>
                  </a:moveTo>
                  <a:lnTo>
                    <a:pt x="6473952" y="0"/>
                  </a:lnTo>
                  <a:lnTo>
                    <a:pt x="6473952" y="983951"/>
                  </a:lnTo>
                  <a:lnTo>
                    <a:pt x="0" y="9839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88" r="0" b="-6351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6473952" cy="10030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 i="true">
                  <a:solidFill>
                    <a:srgbClr val="BCD2E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Weights are configurable per department. Every score expands into these five terms with its source records attached.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6909341" y="6839801"/>
            <a:ext cx="5694228" cy="2896857"/>
            <a:chOff x="0" y="0"/>
            <a:chExt cx="7370826" cy="374980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370825" cy="3749802"/>
            </a:xfrm>
            <a:custGeom>
              <a:avLst/>
              <a:gdLst/>
              <a:ahLst/>
              <a:cxnLst/>
              <a:rect r="r" b="b" t="t" l="l"/>
              <a:pathLst>
                <a:path h="3749802" w="737082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187057" y="0"/>
                  </a:lnTo>
                  <a:cubicBezTo>
                    <a:pt x="7288530" y="0"/>
                    <a:pt x="7370825" y="82296"/>
                    <a:pt x="7370825" y="183769"/>
                  </a:cubicBezTo>
                  <a:lnTo>
                    <a:pt x="7370825" y="3566033"/>
                  </a:lnTo>
                  <a:cubicBezTo>
                    <a:pt x="7370825" y="3667506"/>
                    <a:pt x="7288530" y="3749802"/>
                    <a:pt x="7187057" y="3749802"/>
                  </a:cubicBezTo>
                  <a:lnTo>
                    <a:pt x="183769" y="3749802"/>
                  </a:lnTo>
                  <a:cubicBezTo>
                    <a:pt x="82296" y="3749802"/>
                    <a:pt x="0" y="3667506"/>
                    <a:pt x="0" y="356603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7255775" y="6907541"/>
            <a:ext cx="5001360" cy="415932"/>
            <a:chOff x="0" y="0"/>
            <a:chExt cx="6473952" cy="53839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473952" cy="538399"/>
            </a:xfrm>
            <a:custGeom>
              <a:avLst/>
              <a:gdLst/>
              <a:ahLst/>
              <a:cxnLst/>
              <a:rect r="r" b="b" t="t" l="l"/>
              <a:pathLst>
                <a:path h="538399" w="6473952">
                  <a:moveTo>
                    <a:pt x="0" y="0"/>
                  </a:moveTo>
                  <a:lnTo>
                    <a:pt x="6473952" y="0"/>
                  </a:lnTo>
                  <a:lnTo>
                    <a:pt x="6473952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42" r="0" b="-181851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6473952" cy="547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7255775" y="7294899"/>
            <a:ext cx="5001360" cy="232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763" indent="-147382" lvl="1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Clustering: Haversine distance ≤ 150 m and cosine similarity ≥ 0.82 → one case, many reporters.</a:t>
            </a:r>
          </a:p>
          <a:p>
            <a:pPr algn="l" marL="294763" indent="-147382" lvl="1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Root cause: recurrence count, repair interval and adjacent-asset overlay produce a ranked hypothesis; labelled as one.</a:t>
            </a:r>
          </a:p>
          <a:p>
            <a:pPr algn="l" marL="294763" indent="-147382" lvl="1">
              <a:lnSpc>
                <a:spcPts val="2085"/>
              </a:lnSpc>
              <a:buFont typeface="Arial"/>
              <a:buChar char="•"/>
            </a:pPr>
            <a:r>
              <a:rPr lang="en-US" sz="1628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Grounding and guardrails: retrieval-augmented over case history so each claim cites a record ID, with confidence thresholds, officer sign-off and a full audit log.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2899671" y="1781928"/>
            <a:ext cx="4893162" cy="3942339"/>
            <a:chOff x="0" y="0"/>
            <a:chExt cx="6333896" cy="5103114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333871" cy="5103114"/>
            </a:xfrm>
            <a:custGeom>
              <a:avLst/>
              <a:gdLst/>
              <a:ahLst/>
              <a:cxnLst/>
              <a:rect r="r" b="b" t="t" l="l"/>
              <a:pathLst>
                <a:path h="5103114" w="6333871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150356" y="0"/>
                  </a:lnTo>
                  <a:cubicBezTo>
                    <a:pt x="6251702" y="0"/>
                    <a:pt x="6333871" y="82169"/>
                    <a:pt x="6333871" y="183515"/>
                  </a:cubicBezTo>
                  <a:lnTo>
                    <a:pt x="6333871" y="4919599"/>
                  </a:lnTo>
                  <a:cubicBezTo>
                    <a:pt x="6333871" y="5020945"/>
                    <a:pt x="6251702" y="5103114"/>
                    <a:pt x="6150356" y="5103114"/>
                  </a:cubicBezTo>
                  <a:lnTo>
                    <a:pt x="183515" y="5103114"/>
                  </a:lnTo>
                  <a:cubicBezTo>
                    <a:pt x="82169" y="5103114"/>
                    <a:pt x="0" y="5020945"/>
                    <a:pt x="0" y="4919599"/>
                  </a:cubicBezTo>
                  <a:close/>
                </a:path>
              </a:pathLst>
            </a:custGeom>
            <a:solidFill>
              <a:srgbClr val="E9F0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13246105" y="2071849"/>
            <a:ext cx="4200295" cy="415932"/>
            <a:chOff x="0" y="0"/>
            <a:chExt cx="5437022" cy="538399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437022" cy="538399"/>
            </a:xfrm>
            <a:custGeom>
              <a:avLst/>
              <a:gdLst/>
              <a:ahLst/>
              <a:cxnLst/>
              <a:rect r="r" b="b" t="t" l="l"/>
              <a:pathLst>
                <a:path h="538399" w="5437022">
                  <a:moveTo>
                    <a:pt x="0" y="0"/>
                  </a:moveTo>
                  <a:lnTo>
                    <a:pt x="5437022" y="0"/>
                  </a:lnTo>
                  <a:lnTo>
                    <a:pt x="5437022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15" r="0" b="-14432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9525"/>
              <a:ext cx="5437022" cy="547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 STACK — BUILT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3246105" y="2570618"/>
            <a:ext cx="4200295" cy="268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867" b="true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Frontend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React + Vite, Tailwind CSS, Leaflet map engine</a:t>
            </a:r>
          </a:p>
          <a:p>
            <a:pPr algn="l">
              <a:lnSpc>
                <a:spcPts val="2359"/>
              </a:lnSpc>
            </a:pPr>
            <a:r>
              <a:rPr lang="en-US" sz="1867" b="true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Backend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Python, FastAPI, SQLAlchemy</a:t>
            </a:r>
          </a:p>
          <a:p>
            <a:pPr algn="l">
              <a:lnSpc>
                <a:spcPts val="2359"/>
              </a:lnSpc>
            </a:pPr>
            <a:r>
              <a:rPr lang="en-US" sz="1867" b="true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AI / ML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Gemini multimodal API for vision + NLP, custom Haversine spatial clustering</a:t>
            </a:r>
          </a:p>
          <a:p>
            <a:pPr algn="l">
              <a:lnSpc>
                <a:spcPts val="2359"/>
              </a:lnSpc>
            </a:pPr>
            <a:r>
              <a:rPr lang="en-US" sz="1867" b="true">
                <a:solidFill>
                  <a:srgbClr val="0E7C5A"/>
                </a:solidFill>
                <a:latin typeface="Arial Bold"/>
                <a:ea typeface="Arial Bold"/>
                <a:cs typeface="Arial Bold"/>
                <a:sym typeface="Arial Bold"/>
              </a:rPr>
              <a:t>Data   </a:t>
            </a:r>
            <a:r>
              <a:rPr lang="en-US" sz="186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SQLite for prototype persistence; synthetic and public seed incidents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2899671" y="5907344"/>
            <a:ext cx="4893162" cy="3829314"/>
            <a:chOff x="0" y="0"/>
            <a:chExt cx="6333896" cy="495681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333998" cy="4956810"/>
            </a:xfrm>
            <a:custGeom>
              <a:avLst/>
              <a:gdLst/>
              <a:ahLst/>
              <a:cxnLst/>
              <a:rect r="r" b="b" t="t" l="l"/>
              <a:pathLst>
                <a:path h="4956810" w="6333998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150356" y="0"/>
                  </a:lnTo>
                  <a:cubicBezTo>
                    <a:pt x="6251702" y="0"/>
                    <a:pt x="6333998" y="82169"/>
                    <a:pt x="6333998" y="183642"/>
                  </a:cubicBezTo>
                  <a:lnTo>
                    <a:pt x="6333998" y="4773168"/>
                  </a:lnTo>
                  <a:cubicBezTo>
                    <a:pt x="6333998" y="4874514"/>
                    <a:pt x="6251829" y="4956810"/>
                    <a:pt x="6150356" y="4956810"/>
                  </a:cubicBezTo>
                  <a:lnTo>
                    <a:pt x="183642" y="4956810"/>
                  </a:lnTo>
                  <a:cubicBezTo>
                    <a:pt x="82169" y="4956810"/>
                    <a:pt x="0" y="4874641"/>
                    <a:pt x="0" y="4773168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246105" y="6022322"/>
            <a:ext cx="4200295" cy="720732"/>
            <a:chOff x="0" y="0"/>
            <a:chExt cx="5437022" cy="93294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437022" cy="932943"/>
            </a:xfrm>
            <a:custGeom>
              <a:avLst/>
              <a:gdLst/>
              <a:ahLst/>
              <a:cxnLst/>
              <a:rect r="r" b="b" t="t" l="l"/>
              <a:pathLst>
                <a:path h="932943" w="5437022">
                  <a:moveTo>
                    <a:pt x="0" y="0"/>
                  </a:moveTo>
                  <a:lnTo>
                    <a:pt x="5437022" y="0"/>
                  </a:lnTo>
                  <a:lnTo>
                    <a:pt x="5437022" y="932943"/>
                  </a:lnTo>
                  <a:lnTo>
                    <a:pt x="0" y="9329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111" r="0" b="-40998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5437022" cy="942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 PATH — FOR SCALE</a:t>
              </a: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13246105" y="6771915"/>
            <a:ext cx="4200295" cy="267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690" b="true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Client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Flutter / React Native for Android and iOS field use</a:t>
            </a:r>
          </a:p>
          <a:p>
            <a:pPr algn="l">
              <a:lnSpc>
                <a:spcPts val="2160"/>
              </a:lnSpc>
            </a:pPr>
            <a:r>
              <a:rPr lang="en-US" sz="1690" b="true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Data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PostgreSQL + PostGIS for true spatial indexing at city scale</a:t>
            </a:r>
          </a:p>
          <a:p>
            <a:pPr algn="l">
              <a:lnSpc>
                <a:spcPts val="2160"/>
              </a:lnSpc>
            </a:pPr>
            <a:r>
              <a:rPr lang="en-US" sz="1690" b="true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Models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Fine-tuned Llama 3 8B / Qwen-VL, self-hosted; no per-call API cost, citizen data stays in-country</a:t>
            </a:r>
          </a:p>
          <a:p>
            <a:pPr algn="l">
              <a:lnSpc>
                <a:spcPts val="2160"/>
              </a:lnSpc>
            </a:pPr>
            <a:r>
              <a:rPr lang="en-US" sz="1690" b="true">
                <a:solidFill>
                  <a:srgbClr val="1B6FB5"/>
                </a:solidFill>
                <a:latin typeface="Arial Bold"/>
                <a:ea typeface="Arial Bold"/>
                <a:cs typeface="Arial Bold"/>
                <a:sym typeface="Arial Bold"/>
              </a:rPr>
              <a:t>Infra   </a:t>
            </a:r>
            <a:r>
              <a:rPr lang="en-US" sz="169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Docker, Kubernetes, NIC MeghRaj government cloud; RBAC, encryption in transit and at rest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7968" y="1803092"/>
            <a:ext cx="5759837" cy="4808490"/>
            <a:chOff x="0" y="0"/>
            <a:chExt cx="7208063" cy="60175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08139" cy="6017514"/>
            </a:xfrm>
            <a:custGeom>
              <a:avLst/>
              <a:gdLst/>
              <a:ahLst/>
              <a:cxnLst/>
              <a:rect r="r" b="b" t="t" l="l"/>
              <a:pathLst>
                <a:path h="6017514" w="720813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56306" y="2045826"/>
            <a:ext cx="5043160" cy="415932"/>
            <a:chOff x="0" y="0"/>
            <a:chExt cx="6311189" cy="5205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1188" cy="520512"/>
            </a:xfrm>
            <a:custGeom>
              <a:avLst/>
              <a:gdLst/>
              <a:ahLst/>
              <a:cxnLst/>
              <a:rect r="r" b="b" t="t" l="l"/>
              <a:pathLst>
                <a:path h="520512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6" r="0" b="-1854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6306" y="2620194"/>
            <a:ext cx="5043160" cy="344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Software-only. No sensors, no hardware procurement, no civil works.</a:t>
            </a:r>
          </a:p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Runs on data that already exists: complaint text, a phone photo and a GPS point.</a:t>
            </a:r>
          </a:p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Prototype is already end-to-end — capture through officer recommendation.</a:t>
            </a:r>
          </a:p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Modular APIs mean it can wrap an existing portal rather than replace it.</a:t>
            </a:r>
          </a:p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A district-scale pilot fits comfortably on a single mid-sized cloud node.</a:t>
            </a:r>
          </a:p>
          <a:p>
            <a:pPr algn="l" marL="325755" indent="-162878" lvl="1">
              <a:lnSpc>
                <a:spcPts val="2304"/>
              </a:lnSpc>
              <a:buFont typeface="Arial"/>
              <a:buChar char="•"/>
            </a:pPr>
            <a:r>
              <a:rPr lang="en-US" sz="180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Deployable inside government cloud (MeghRaj), so data never leaves state control.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64082" y="1803092"/>
            <a:ext cx="5759837" cy="4808490"/>
            <a:chOff x="0" y="0"/>
            <a:chExt cx="7208063" cy="60175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8139" cy="6017514"/>
            </a:xfrm>
            <a:custGeom>
              <a:avLst/>
              <a:gdLst/>
              <a:ahLst/>
              <a:cxnLst/>
              <a:rect r="r" b="b" t="t" l="l"/>
              <a:pathLst>
                <a:path h="6017514" w="720813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BF3F2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22420" y="2035995"/>
            <a:ext cx="5043160" cy="415932"/>
            <a:chOff x="0" y="0"/>
            <a:chExt cx="6311189" cy="5205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1188" cy="520512"/>
            </a:xfrm>
            <a:custGeom>
              <a:avLst/>
              <a:gdLst/>
              <a:ahLst/>
              <a:cxnLst/>
              <a:rect r="r" b="b" t="t" l="l"/>
              <a:pathLst>
                <a:path h="520512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6" r="0" b="-1854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CHALLENGES AND RISKS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22420" y="2494894"/>
            <a:ext cx="5043160" cy="401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Historical civic data is fragmented, inconsistently geocoded, often locked in PDFs.</a:t>
            </a:r>
          </a:p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Cold start: root-cause intelligence needs history that a new district will not have on day one.</a:t>
            </a:r>
          </a:p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False positives: an AI-flagged 'pipeline leak' that turns out to be surface runoff wastes a field visit.</a:t>
            </a:r>
          </a:p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Citizen photos and locations are sensitive personal data under the DPDP Act, 2023.</a:t>
            </a:r>
          </a:p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Cross-department workflows cut across separate budgets and reporting lines.</a:t>
            </a:r>
          </a:p>
          <a:p>
            <a:pPr algn="l" marL="320381" indent="-160191" lvl="1">
              <a:lnSpc>
                <a:spcPts val="2266"/>
              </a:lnSpc>
              <a:buFont typeface="Arial"/>
              <a:buChar char="•"/>
            </a:pPr>
            <a:r>
              <a:rPr lang="en-US" sz="1770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Officer adoption: another dashboard is a burden unless it visibly saves time.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30195" y="1803092"/>
            <a:ext cx="5759837" cy="4808490"/>
            <a:chOff x="0" y="0"/>
            <a:chExt cx="7208063" cy="60175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08139" cy="6017514"/>
            </a:xfrm>
            <a:custGeom>
              <a:avLst/>
              <a:gdLst/>
              <a:ahLst/>
              <a:cxnLst/>
              <a:rect r="r" b="b" t="t" l="l"/>
              <a:pathLst>
                <a:path h="6017514" w="7208139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024624" y="0"/>
                  </a:lnTo>
                  <a:cubicBezTo>
                    <a:pt x="7125970" y="0"/>
                    <a:pt x="7208139" y="82169"/>
                    <a:pt x="7208139" y="183515"/>
                  </a:cubicBezTo>
                  <a:lnTo>
                    <a:pt x="7208139" y="5833999"/>
                  </a:lnTo>
                  <a:cubicBezTo>
                    <a:pt x="7208139" y="5935345"/>
                    <a:pt x="7125970" y="6017514"/>
                    <a:pt x="7024624" y="6017514"/>
                  </a:cubicBezTo>
                  <a:lnTo>
                    <a:pt x="183515" y="6017514"/>
                  </a:lnTo>
                  <a:cubicBezTo>
                    <a:pt x="82169" y="6017514"/>
                    <a:pt x="0" y="5935345"/>
                    <a:pt x="0" y="583399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688534" y="2016945"/>
            <a:ext cx="5043160" cy="415932"/>
            <a:chOff x="0" y="0"/>
            <a:chExt cx="6311189" cy="5205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11188" cy="520512"/>
            </a:xfrm>
            <a:custGeom>
              <a:avLst/>
              <a:gdLst/>
              <a:ahLst/>
              <a:cxnLst/>
              <a:rect r="r" b="b" t="t" l="l"/>
              <a:pathLst>
                <a:path h="520512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6" r="0" b="-1854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311189" cy="53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MITIGATION STRATEGY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88534" y="2394778"/>
            <a:ext cx="5043160" cy="416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Start with one domain, one ward: road and water incidents, where recurrence is densest.</a:t>
            </a:r>
          </a:p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Seed with public and synthetic history; label every simulated integration honestly in the demo.</a:t>
            </a:r>
          </a:p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Ship confidence bands with every output; below threshold it reads 'insufficient evidence', not a guess.</a:t>
            </a:r>
          </a:p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Data minimisation, PII separated from analytics, encryption, role-based access, full audit trail.</a:t>
            </a:r>
          </a:p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Coordination is a recommendation with an owner and an SLA clock; approval stays with the official.</a:t>
            </a:r>
          </a:p>
          <a:p>
            <a:pPr algn="l" marL="316706" indent="-158353" lvl="1">
              <a:lnSpc>
                <a:spcPts val="2240"/>
              </a:lnSpc>
              <a:buFont typeface="Arial"/>
              <a:buChar char="•"/>
            </a:pPr>
            <a:r>
              <a:rPr lang="en-US" sz="1749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Measure officer time saved per case from week one and report it back to them.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05579" y="7042380"/>
            <a:ext cx="5845448" cy="415932"/>
            <a:chOff x="0" y="0"/>
            <a:chExt cx="7315200" cy="5205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520512"/>
            </a:xfrm>
            <a:custGeom>
              <a:avLst/>
              <a:gdLst/>
              <a:ahLst/>
              <a:cxnLst/>
              <a:rect r="r" b="b" t="t" l="l"/>
              <a:pathLst>
                <a:path h="5205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164" r="0" b="-21951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315200" cy="53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VIABILITY PATH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7968" y="7502404"/>
            <a:ext cx="3007361" cy="2090357"/>
            <a:chOff x="0" y="0"/>
            <a:chExt cx="3763518" cy="26159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63518" cy="2615946"/>
            </a:xfrm>
            <a:custGeom>
              <a:avLst/>
              <a:gdLst/>
              <a:ahLst/>
              <a:cxnLst/>
              <a:rect r="r" b="b" t="t" l="l"/>
              <a:pathLst>
                <a:path h="2615946" w="3763518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E4EE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68624" y="7685379"/>
            <a:ext cx="876817" cy="438409"/>
            <a:chOff x="0" y="0"/>
            <a:chExt cx="109728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8624" y="8153015"/>
            <a:ext cx="2466048" cy="350727"/>
            <a:chOff x="0" y="0"/>
            <a:chExt cx="308610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86100" cy="438912"/>
            </a:xfrm>
            <a:custGeom>
              <a:avLst/>
              <a:gdLst/>
              <a:ahLst/>
              <a:cxnLst/>
              <a:rect r="r" b="b" t="t" l="l"/>
              <a:pathLst>
                <a:path h="43891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b="true" sz="1549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8624" y="8557108"/>
            <a:ext cx="2466048" cy="918132"/>
            <a:chOff x="0" y="0"/>
            <a:chExt cx="3086100" cy="11489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86100" cy="1148982"/>
            </a:xfrm>
            <a:custGeom>
              <a:avLst/>
              <a:gdLst/>
              <a:ahLst/>
              <a:cxnLst/>
              <a:rect r="r" b="b" t="t" l="l"/>
              <a:pathLst>
                <a:path h="114898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8" r="0" b="30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One domain, synthetic + public data, end-to-end demo path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365470" y="7502404"/>
            <a:ext cx="3007361" cy="2090357"/>
            <a:chOff x="0" y="0"/>
            <a:chExt cx="3763518" cy="261594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63518" cy="2615946"/>
            </a:xfrm>
            <a:custGeom>
              <a:avLst/>
              <a:gdLst/>
              <a:ahLst/>
              <a:cxnLst/>
              <a:rect r="r" b="b" t="t" l="l"/>
              <a:pathLst>
                <a:path h="2615946" w="3763518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636127" y="7685379"/>
            <a:ext cx="876817" cy="438409"/>
            <a:chOff x="0" y="0"/>
            <a:chExt cx="1097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636127" y="8073420"/>
            <a:ext cx="2466048" cy="350727"/>
            <a:chOff x="0" y="0"/>
            <a:chExt cx="308610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86100" cy="438912"/>
            </a:xfrm>
            <a:custGeom>
              <a:avLst/>
              <a:gdLst/>
              <a:ahLst/>
              <a:cxnLst/>
              <a:rect r="r" b="b" t="t" l="l"/>
              <a:pathLst>
                <a:path h="43891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b="true" sz="1549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FOCUSED PILOT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636127" y="8398404"/>
            <a:ext cx="2466048" cy="1194357"/>
            <a:chOff x="0" y="0"/>
            <a:chExt cx="3086100" cy="14946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86100" cy="1494660"/>
            </a:xfrm>
            <a:custGeom>
              <a:avLst/>
              <a:gdLst/>
              <a:ahLst/>
              <a:cxnLst/>
              <a:rect r="r" b="b" t="t" l="l"/>
              <a:pathLst>
                <a:path h="149466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494660"/>
                  </a:lnTo>
                  <a:lnTo>
                    <a:pt x="0" y="1494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2" r="0" b="255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086100" cy="1513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One ward with a real ULB; measure time-to-assignment and duplicate rate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32972" y="7502404"/>
            <a:ext cx="3007361" cy="2090357"/>
            <a:chOff x="0" y="0"/>
            <a:chExt cx="3763518" cy="261594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63518" cy="2615946"/>
            </a:xfrm>
            <a:custGeom>
              <a:avLst/>
              <a:gdLst/>
              <a:ahLst/>
              <a:cxnLst/>
              <a:rect r="r" b="b" t="t" l="l"/>
              <a:pathLst>
                <a:path h="2615946" w="3763518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03629" y="7685379"/>
            <a:ext cx="876817" cy="438409"/>
            <a:chOff x="0" y="0"/>
            <a:chExt cx="10972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03629" y="8114263"/>
            <a:ext cx="2466048" cy="542264"/>
            <a:chOff x="0" y="0"/>
            <a:chExt cx="3086100" cy="67860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86100" cy="678609"/>
            </a:xfrm>
            <a:custGeom>
              <a:avLst/>
              <a:gdLst/>
              <a:ahLst/>
              <a:cxnLst/>
              <a:rect r="r" b="b" t="t" l="l"/>
              <a:pathLst>
                <a:path h="678609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678609"/>
                  </a:lnTo>
                  <a:lnTo>
                    <a:pt x="0" y="6786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72" r="0" b="-209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086100" cy="688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b="true" sz="1549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DEPARTMENT INTEGRATION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803629" y="8650450"/>
            <a:ext cx="2466048" cy="918132"/>
            <a:chOff x="0" y="0"/>
            <a:chExt cx="3086100" cy="11489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86100" cy="1148982"/>
            </a:xfrm>
            <a:custGeom>
              <a:avLst/>
              <a:gdLst/>
              <a:ahLst/>
              <a:cxnLst/>
              <a:rect r="r" b="b" t="t" l="l"/>
              <a:pathLst>
                <a:path h="114898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8" r="0" b="30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API adapters into the existing portal and asset registers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00474" y="7502404"/>
            <a:ext cx="3007361" cy="2090357"/>
            <a:chOff x="0" y="0"/>
            <a:chExt cx="3763518" cy="261594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63518" cy="2615946"/>
            </a:xfrm>
            <a:custGeom>
              <a:avLst/>
              <a:gdLst/>
              <a:ahLst/>
              <a:cxnLst/>
              <a:rect r="r" b="b" t="t" l="l"/>
              <a:pathLst>
                <a:path h="2615946" w="3763518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3616198" y="0"/>
                  </a:lnTo>
                  <a:cubicBezTo>
                    <a:pt x="3697605" y="0"/>
                    <a:pt x="3763518" y="66040"/>
                    <a:pt x="3763518" y="147320"/>
                  </a:cubicBezTo>
                  <a:lnTo>
                    <a:pt x="3763518" y="2468626"/>
                  </a:lnTo>
                  <a:cubicBezTo>
                    <a:pt x="3763518" y="2550033"/>
                    <a:pt x="3697478" y="2615946"/>
                    <a:pt x="3616198" y="2615946"/>
                  </a:cubicBezTo>
                  <a:lnTo>
                    <a:pt x="147320" y="2615946"/>
                  </a:lnTo>
                  <a:cubicBezTo>
                    <a:pt x="65913" y="2615946"/>
                    <a:pt x="0" y="2549906"/>
                    <a:pt x="0" y="246862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971131" y="7685379"/>
            <a:ext cx="876817" cy="438409"/>
            <a:chOff x="0" y="0"/>
            <a:chExt cx="109728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E7B1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971131" y="8123788"/>
            <a:ext cx="2466048" cy="350727"/>
            <a:chOff x="0" y="0"/>
            <a:chExt cx="3086100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86100" cy="438912"/>
            </a:xfrm>
            <a:custGeom>
              <a:avLst/>
              <a:gdLst/>
              <a:ahLst/>
              <a:cxnLst/>
              <a:rect r="r" b="b" t="t" l="l"/>
              <a:pathLst>
                <a:path h="43891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08610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b="true" sz="1549" spc="68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971131" y="8474514"/>
            <a:ext cx="2466048" cy="918132"/>
            <a:chOff x="0" y="0"/>
            <a:chExt cx="3086100" cy="114898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86100" cy="1148982"/>
            </a:xfrm>
            <a:custGeom>
              <a:avLst/>
              <a:gdLst/>
              <a:ahLst/>
              <a:cxnLst/>
              <a:rect r="r" b="b" t="t" l="l"/>
              <a:pathLst>
                <a:path h="1148982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148982"/>
                  </a:lnTo>
                  <a:lnTo>
                    <a:pt x="0" y="1148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8" r="0" b="309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086100" cy="1168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2"/>
                </a:lnSpc>
              </a:pPr>
              <a:r>
                <a:rPr lang="en-US" sz="17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District, then state; self-hosted models on government cloud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014113" y="6866926"/>
            <a:ext cx="5075919" cy="3196127"/>
            <a:chOff x="0" y="0"/>
            <a:chExt cx="6352184" cy="399974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52286" cy="3999747"/>
            </a:xfrm>
            <a:custGeom>
              <a:avLst/>
              <a:gdLst/>
              <a:ahLst/>
              <a:cxnLst/>
              <a:rect r="r" b="b" t="t" l="l"/>
              <a:pathLst>
                <a:path h="3999747" w="6352286">
                  <a:moveTo>
                    <a:pt x="0" y="227333"/>
                  </a:moveTo>
                  <a:cubicBezTo>
                    <a:pt x="0" y="101821"/>
                    <a:pt x="82423" y="0"/>
                    <a:pt x="184023" y="0"/>
                  </a:cubicBezTo>
                  <a:lnTo>
                    <a:pt x="6168263" y="0"/>
                  </a:lnTo>
                  <a:cubicBezTo>
                    <a:pt x="6269863" y="0"/>
                    <a:pt x="6352286" y="101821"/>
                    <a:pt x="6352286" y="227333"/>
                  </a:cubicBezTo>
                  <a:lnTo>
                    <a:pt x="6352286" y="3772413"/>
                  </a:lnTo>
                  <a:cubicBezTo>
                    <a:pt x="6352286" y="3897925"/>
                    <a:pt x="6269863" y="3999747"/>
                    <a:pt x="6168263" y="3999747"/>
                  </a:cubicBezTo>
                  <a:lnTo>
                    <a:pt x="184023" y="3999747"/>
                  </a:lnTo>
                  <a:cubicBezTo>
                    <a:pt x="82423" y="3999747"/>
                    <a:pt x="0" y="3897925"/>
                    <a:pt x="0" y="3772413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372451" y="7113738"/>
            <a:ext cx="4359243" cy="415932"/>
            <a:chOff x="0" y="0"/>
            <a:chExt cx="5455310" cy="5205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55310" cy="520512"/>
            </a:xfrm>
            <a:custGeom>
              <a:avLst/>
              <a:gdLst/>
              <a:ahLst/>
              <a:cxnLst/>
              <a:rect r="r" b="b" t="t" l="l"/>
              <a:pathLst>
                <a:path h="520512" w="5455310">
                  <a:moveTo>
                    <a:pt x="0" y="0"/>
                  </a:moveTo>
                  <a:lnTo>
                    <a:pt x="5455310" y="0"/>
                  </a:lnTo>
                  <a:lnTo>
                    <a:pt x="5455310" y="520512"/>
                  </a:lnTo>
                  <a:lnTo>
                    <a:pt x="0" y="52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027" r="0" b="-1534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455310" cy="530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COST AND EFFORT PROFILE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372451" y="7558245"/>
            <a:ext cx="4359243" cy="2428608"/>
            <a:chOff x="0" y="0"/>
            <a:chExt cx="5455310" cy="30392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55310" cy="3039245"/>
            </a:xfrm>
            <a:custGeom>
              <a:avLst/>
              <a:gdLst/>
              <a:ahLst/>
              <a:cxnLst/>
              <a:rect r="r" b="b" t="t" l="l"/>
              <a:pathLst>
                <a:path h="3039245" w="5455310">
                  <a:moveTo>
                    <a:pt x="0" y="0"/>
                  </a:moveTo>
                  <a:lnTo>
                    <a:pt x="5455310" y="0"/>
                  </a:lnTo>
                  <a:lnTo>
                    <a:pt x="5455310" y="3039245"/>
                  </a:lnTo>
                  <a:lnTo>
                    <a:pt x="0" y="3039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" t="0" r="-753" b="2899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455310" cy="3086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3"/>
                </a:lnSpc>
              </a:pPr>
              <a:r>
                <a:rPr lang="en-US" sz="17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Marginal cost per complaint is measured in paise at current multimodal API rates, and falls to compute-only once the open-weight model is self-hosted. </a:t>
              </a:r>
              <a:r>
                <a:rPr lang="en-US" sz="17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licence fees, no per-seat cost, no hardware. </a:t>
              </a:r>
              <a:r>
                <a:rPr lang="en-US" sz="1749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The expensive item here is the field visit that should never have been dispatched — that is what we cut.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2919" y="1844557"/>
            <a:ext cx="10294143" cy="415932"/>
            <a:chOff x="0" y="0"/>
            <a:chExt cx="12893040" cy="5209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3040" cy="520940"/>
            </a:xfrm>
            <a:custGeom>
              <a:avLst/>
              <a:gdLst/>
              <a:ahLst/>
              <a:cxnLst/>
              <a:rect r="r" b="b" t="t" l="l"/>
              <a:pathLst>
                <a:path h="520940" w="12893040">
                  <a:moveTo>
                    <a:pt x="0" y="0"/>
                  </a:moveTo>
                  <a:lnTo>
                    <a:pt x="12893040" y="0"/>
                  </a:lnTo>
                  <a:lnTo>
                    <a:pt x="12893040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98" r="0" b="-4313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893040" cy="53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WE WILL BE JUDGED — PILOT SUCCESS METRICS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212919" y="2341012"/>
          <a:ext cx="10261695" cy="4516724"/>
        </p:xfrm>
        <a:graphic>
          <a:graphicData uri="http://schemas.openxmlformats.org/drawingml/2006/table">
            <a:tbl>
              <a:tblPr/>
              <a:tblGrid>
                <a:gridCol w="3410575"/>
                <a:gridCol w="2259731"/>
                <a:gridCol w="2547442"/>
                <a:gridCol w="2043947"/>
              </a:tblGrid>
              <a:tr h="7828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80"/>
                        </a:lnSpc>
                        <a:defRPr/>
                      </a:pPr>
                      <a:r>
                        <a:rPr lang="en-US" sz="181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Metric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80"/>
                        </a:lnSpc>
                        <a:defRPr/>
                      </a:pPr>
                      <a:r>
                        <a:rPr lang="en-US" sz="181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Today (typical)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80"/>
                        </a:lnSpc>
                        <a:defRPr/>
                      </a:pPr>
                      <a:r>
                        <a:rPr lang="en-US" sz="181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Pilot target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80"/>
                        </a:lnSpc>
                        <a:defRPr/>
                      </a:pPr>
                      <a:r>
                        <a:rPr lang="en-US" sz="181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How it is measured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467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from report to department assignment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to days, manual triage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 60 seconds, automated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Server timestamps, per case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Duplicate reports handled as separate tickets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report a separate ticket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Merged into one case with N reporters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Cluster size distribution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Repeat failures at the same location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Repaired again, cause unrecorded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Flagged with repair history before dispatch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Recurrence count per 150 m cell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time spent assembling context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search across records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 pre-assembled on the case card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time-on-case, self-reported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Recommendation quality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currently measured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Officer acceptance rate tracked per category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8"/>
                        </a:lnSpc>
                        <a:defRPr/>
                      </a:pPr>
                      <a:r>
                        <a:rPr lang="en-US" sz="1657">
                          <a:solidFill>
                            <a:srgbClr val="1B2C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Accept / edit / reject log</a:t>
                      </a:r>
                      <a:endParaRPr lang="en-US" sz="1100"/>
                    </a:p>
                  </a:txBody>
                  <a:tcPr marL="58406" marR="58406" marT="58406" marB="58406" anchor="ctr">
                    <a:lnL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40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0857500" y="1844557"/>
            <a:ext cx="7217581" cy="415932"/>
            <a:chOff x="0" y="0"/>
            <a:chExt cx="9039758" cy="5209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39758" cy="520940"/>
            </a:xfrm>
            <a:custGeom>
              <a:avLst/>
              <a:gdLst/>
              <a:ahLst/>
              <a:cxnLst/>
              <a:rect r="r" b="b" t="t" l="l"/>
              <a:pathLst>
                <a:path h="520940" w="9039758">
                  <a:moveTo>
                    <a:pt x="0" y="0"/>
                  </a:moveTo>
                  <a:lnTo>
                    <a:pt x="9039758" y="0"/>
                  </a:lnTo>
                  <a:lnTo>
                    <a:pt x="903975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971" r="0" b="-2872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039758" cy="53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PRIMARY BENEFICIARIES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49895" y="2362610"/>
            <a:ext cx="7232791" cy="964315"/>
            <a:chOff x="0" y="0"/>
            <a:chExt cx="9058808" cy="12077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8783" cy="1207770"/>
            </a:xfrm>
            <a:custGeom>
              <a:avLst/>
              <a:gdLst/>
              <a:ahLst/>
              <a:cxnLst/>
              <a:rect r="r" b="b" t="t" l="l"/>
              <a:pathLst>
                <a:path h="1207770" w="905878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110189" y="2637506"/>
            <a:ext cx="429125" cy="429125"/>
            <a:chOff x="0" y="0"/>
            <a:chExt cx="537464" cy="537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DE7B10"/>
            </a:solidFill>
            <a:ln w="19050" cap="sq">
              <a:solidFill>
                <a:srgbClr val="DE7B1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120329" y="2647646"/>
            <a:ext cx="408845" cy="408845"/>
            <a:chOff x="0" y="0"/>
            <a:chExt cx="512064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75191" y="2442495"/>
            <a:ext cx="6107858" cy="390022"/>
            <a:chOff x="0" y="0"/>
            <a:chExt cx="7649870" cy="4884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49870" cy="488489"/>
            </a:xfrm>
            <a:custGeom>
              <a:avLst/>
              <a:gdLst/>
              <a:ahLst/>
              <a:cxnLst/>
              <a:rect r="r" b="b" t="t" l="l"/>
              <a:pathLst>
                <a:path h="488489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59" r="0" b="-2463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75191" y="2741327"/>
            <a:ext cx="6107858" cy="592229"/>
            <a:chOff x="0" y="0"/>
            <a:chExt cx="7649870" cy="7417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49870" cy="741746"/>
            </a:xfrm>
            <a:custGeom>
              <a:avLst/>
              <a:gdLst/>
              <a:ahLst/>
              <a:cxnLst/>
              <a:rect r="r" b="b" t="t" l="l"/>
              <a:pathLst>
                <a:path h="741746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741746"/>
                  </a:lnTo>
                  <a:lnTo>
                    <a:pt x="0" y="741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972" r="0" b="-1379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649870" cy="751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 report that is seen, merged with neighbours' reports, and traceable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849895" y="3428529"/>
            <a:ext cx="7232791" cy="964315"/>
            <a:chOff x="0" y="0"/>
            <a:chExt cx="9058808" cy="12077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58783" cy="1207770"/>
            </a:xfrm>
            <a:custGeom>
              <a:avLst/>
              <a:gdLst/>
              <a:ahLst/>
              <a:cxnLst/>
              <a:rect r="r" b="b" t="t" l="l"/>
              <a:pathLst>
                <a:path h="1207770" w="905878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110189" y="3703424"/>
            <a:ext cx="429125" cy="429125"/>
            <a:chOff x="0" y="0"/>
            <a:chExt cx="537464" cy="5374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6FB5"/>
            </a:solidFill>
            <a:ln w="19050" cap="sq">
              <a:solidFill>
                <a:srgbClr val="1B6FB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120329" y="3713565"/>
            <a:ext cx="408845" cy="408845"/>
            <a:chOff x="0" y="0"/>
            <a:chExt cx="512064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75191" y="3567548"/>
            <a:ext cx="6107858" cy="390022"/>
            <a:chOff x="0" y="0"/>
            <a:chExt cx="7649870" cy="4884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49870" cy="488489"/>
            </a:xfrm>
            <a:custGeom>
              <a:avLst/>
              <a:gdLst/>
              <a:ahLst/>
              <a:cxnLst/>
              <a:rect r="r" b="b" t="t" l="l"/>
              <a:pathLst>
                <a:path h="488489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59" r="0" b="-2463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Field teams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675191" y="3865286"/>
            <a:ext cx="6107858" cy="438049"/>
            <a:chOff x="0" y="0"/>
            <a:chExt cx="764987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49870" cy="548640"/>
            </a:xfrm>
            <a:custGeom>
              <a:avLst/>
              <a:gdLst/>
              <a:ahLst/>
              <a:cxnLst/>
              <a:rect r="r" b="b" t="t" l="l"/>
              <a:pathLst>
                <a:path h="548640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86" r="0" b="-22168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64987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Arrive with history and a likely cause instead of a bare address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49895" y="4494447"/>
            <a:ext cx="7232791" cy="964315"/>
            <a:chOff x="0" y="0"/>
            <a:chExt cx="9058808" cy="12077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58783" cy="1207770"/>
            </a:xfrm>
            <a:custGeom>
              <a:avLst/>
              <a:gdLst/>
              <a:ahLst/>
              <a:cxnLst/>
              <a:rect r="r" b="b" t="t" l="l"/>
              <a:pathLst>
                <a:path h="1207770" w="905878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110189" y="4769343"/>
            <a:ext cx="429125" cy="429125"/>
            <a:chOff x="0" y="0"/>
            <a:chExt cx="537464" cy="537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0E7C5A"/>
            </a:solidFill>
            <a:ln w="19050" cap="sq">
              <a:solidFill>
                <a:srgbClr val="0E7C5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120329" y="4779483"/>
            <a:ext cx="408845" cy="408845"/>
            <a:chOff x="0" y="0"/>
            <a:chExt cx="512064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675191" y="4584472"/>
            <a:ext cx="6107858" cy="390022"/>
            <a:chOff x="0" y="0"/>
            <a:chExt cx="7649870" cy="4884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49870" cy="488489"/>
            </a:xfrm>
            <a:custGeom>
              <a:avLst/>
              <a:gdLst/>
              <a:ahLst/>
              <a:cxnLst/>
              <a:rect r="r" b="b" t="t" l="l"/>
              <a:pathLst>
                <a:path h="488489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59" r="0" b="-2463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Officers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75191" y="4882688"/>
            <a:ext cx="6107858" cy="592229"/>
            <a:chOff x="0" y="0"/>
            <a:chExt cx="7649870" cy="74174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49870" cy="741746"/>
            </a:xfrm>
            <a:custGeom>
              <a:avLst/>
              <a:gdLst/>
              <a:ahLst/>
              <a:cxnLst/>
              <a:rect r="r" b="b" t="t" l="l"/>
              <a:pathLst>
                <a:path h="741746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741746"/>
                  </a:lnTo>
                  <a:lnTo>
                    <a:pt x="0" y="741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972" r="0" b="-1379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7649870" cy="751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A ranked queue they can defend, with evidence attached to every rank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49895" y="5560365"/>
            <a:ext cx="7232791" cy="964315"/>
            <a:chOff x="0" y="0"/>
            <a:chExt cx="9058808" cy="12077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58783" cy="1207770"/>
            </a:xfrm>
            <a:custGeom>
              <a:avLst/>
              <a:gdLst/>
              <a:ahLst/>
              <a:cxnLst/>
              <a:rect r="r" b="b" t="t" l="l"/>
              <a:pathLst>
                <a:path h="1207770" w="905878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910193" y="0"/>
                  </a:lnTo>
                  <a:cubicBezTo>
                    <a:pt x="8992236" y="0"/>
                    <a:pt x="9058783" y="66548"/>
                    <a:pt x="9058783" y="148590"/>
                  </a:cubicBezTo>
                  <a:lnTo>
                    <a:pt x="9058783" y="1059180"/>
                  </a:lnTo>
                  <a:cubicBezTo>
                    <a:pt x="9058783" y="1141222"/>
                    <a:pt x="8992236" y="1207770"/>
                    <a:pt x="8910193" y="1207770"/>
                  </a:cubicBezTo>
                  <a:lnTo>
                    <a:pt x="148590" y="1207770"/>
                  </a:lnTo>
                  <a:cubicBezTo>
                    <a:pt x="66548" y="1207770"/>
                    <a:pt x="0" y="1141222"/>
                    <a:pt x="0" y="1059180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110189" y="5835261"/>
            <a:ext cx="429125" cy="429125"/>
            <a:chOff x="0" y="0"/>
            <a:chExt cx="537464" cy="5374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365C"/>
            </a:solidFill>
            <a:ln w="19050" cap="sq">
              <a:solidFill>
                <a:srgbClr val="16365C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120329" y="5845401"/>
            <a:ext cx="408845" cy="408845"/>
            <a:chOff x="0" y="0"/>
            <a:chExt cx="512064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12064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675191" y="5699385"/>
            <a:ext cx="6107858" cy="390022"/>
            <a:chOff x="0" y="0"/>
            <a:chExt cx="7649870" cy="4884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49870" cy="488489"/>
            </a:xfrm>
            <a:custGeom>
              <a:avLst/>
              <a:gdLst/>
              <a:ahLst/>
              <a:cxnLst/>
              <a:rect r="r" b="b" t="t" l="l"/>
              <a:pathLst>
                <a:path h="488489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488489"/>
                  </a:lnTo>
                  <a:lnTo>
                    <a:pt x="0" y="4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59" r="0" b="-24632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7649870" cy="4980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Administrators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675191" y="6035222"/>
            <a:ext cx="6107858" cy="438049"/>
            <a:chOff x="0" y="0"/>
            <a:chExt cx="764987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49870" cy="548640"/>
            </a:xfrm>
            <a:custGeom>
              <a:avLst/>
              <a:gdLst/>
              <a:ahLst/>
              <a:cxnLst/>
              <a:rect r="r" b="b" t="t" l="l"/>
              <a:pathLst>
                <a:path h="548640" w="7649870">
                  <a:moveTo>
                    <a:pt x="0" y="0"/>
                  </a:moveTo>
                  <a:lnTo>
                    <a:pt x="7649870" y="0"/>
                  </a:lnTo>
                  <a:lnTo>
                    <a:pt x="76498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86" r="0" b="-22168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764987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0"/>
                </a:lnSpc>
              </a:pPr>
              <a:r>
                <a:rPr lang="en-US" sz="16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Ward-level patterns across departments, from one view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05314" y="7035129"/>
            <a:ext cx="5755107" cy="3023144"/>
            <a:chOff x="0" y="0"/>
            <a:chExt cx="7208063" cy="378637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08012" cy="3786378"/>
            </a:xfrm>
            <a:custGeom>
              <a:avLst/>
              <a:gdLst/>
              <a:ahLst/>
              <a:cxnLst/>
              <a:rect r="r" b="b" t="t" l="l"/>
              <a:pathLst>
                <a:path h="3786378" w="7208012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563358" y="7276988"/>
            <a:ext cx="5039019" cy="415932"/>
            <a:chOff x="0" y="0"/>
            <a:chExt cx="6311189" cy="5209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11188" cy="520940"/>
            </a:xfrm>
            <a:custGeom>
              <a:avLst/>
              <a:gdLst/>
              <a:ahLst/>
              <a:cxnLst/>
              <a:rect r="r" b="b" t="t" l="l"/>
              <a:pathLst>
                <a:path h="520940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913" r="0" b="-18520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563358" y="7769121"/>
            <a:ext cx="5039019" cy="214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High-risk civic failures reach the top of the queue instead of the bottom of a list.</a:t>
            </a:r>
          </a:p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Recurring hazards near schools and hospitals are surfaced by design, not by luck.</a:t>
            </a:r>
          </a:p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Every citizen report stays visible even when merged, which is what rebuilds trust.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266446" y="7035129"/>
            <a:ext cx="5755107" cy="3023144"/>
            <a:chOff x="0" y="0"/>
            <a:chExt cx="7208063" cy="378637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208012" cy="3786378"/>
            </a:xfrm>
            <a:custGeom>
              <a:avLst/>
              <a:gdLst/>
              <a:ahLst/>
              <a:cxnLst/>
              <a:rect r="r" b="b" t="t" l="l"/>
              <a:pathLst>
                <a:path h="3786378" w="7208012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6624490" y="7276988"/>
            <a:ext cx="5039019" cy="415932"/>
            <a:chOff x="0" y="0"/>
            <a:chExt cx="6311189" cy="5209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11188" cy="520940"/>
            </a:xfrm>
            <a:custGeom>
              <a:avLst/>
              <a:gdLst/>
              <a:ahLst/>
              <a:cxnLst/>
              <a:rect r="r" b="b" t="t" l="l"/>
              <a:pathLst>
                <a:path h="520940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913" r="0" b="-18520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6624490" y="7760920"/>
            <a:ext cx="5039019" cy="214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Fewer repeat repairs on the same stretch: the same budget buys a real fix instead of a fourth patch.</a:t>
            </a:r>
          </a:p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Fewer wasted field visits to duplicate reports.</a:t>
            </a:r>
          </a:p>
          <a:p>
            <a:pPr algn="l" marL="346929" indent="-173465" lvl="1">
              <a:lnSpc>
                <a:spcPts val="2453"/>
              </a:lnSpc>
              <a:buFont typeface="Arial"/>
              <a:buChar char="•"/>
            </a:pPr>
            <a:r>
              <a:rPr lang="en-US" sz="1916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Institutional memory survives officer transfers.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327579" y="7035129"/>
            <a:ext cx="5755107" cy="3023144"/>
            <a:chOff x="0" y="0"/>
            <a:chExt cx="7208063" cy="378637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208012" cy="3786378"/>
            </a:xfrm>
            <a:custGeom>
              <a:avLst/>
              <a:gdLst/>
              <a:ahLst/>
              <a:cxnLst/>
              <a:rect r="r" b="b" t="t" l="l"/>
              <a:pathLst>
                <a:path h="3786378" w="7208012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7024243" y="0"/>
                  </a:lnTo>
                  <a:cubicBezTo>
                    <a:pt x="7125716" y="0"/>
                    <a:pt x="7208012" y="82296"/>
                    <a:pt x="7208012" y="183769"/>
                  </a:cubicBezTo>
                  <a:lnTo>
                    <a:pt x="7208012" y="3602609"/>
                  </a:lnTo>
                  <a:cubicBezTo>
                    <a:pt x="7208012" y="3704082"/>
                    <a:pt x="7125716" y="3786378"/>
                    <a:pt x="7024243" y="3786378"/>
                  </a:cubicBezTo>
                  <a:lnTo>
                    <a:pt x="183769" y="3786378"/>
                  </a:lnTo>
                  <a:cubicBezTo>
                    <a:pt x="82296" y="3786378"/>
                    <a:pt x="0" y="3704082"/>
                    <a:pt x="0" y="3602609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2685623" y="7185073"/>
            <a:ext cx="5039019" cy="415932"/>
            <a:chOff x="0" y="0"/>
            <a:chExt cx="6311189" cy="5209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11188" cy="520940"/>
            </a:xfrm>
            <a:custGeom>
              <a:avLst/>
              <a:gdLst/>
              <a:ahLst/>
              <a:cxnLst/>
              <a:rect r="r" b="b" t="t" l="l"/>
              <a:pathLst>
                <a:path h="520940" w="6311188">
                  <a:moveTo>
                    <a:pt x="0" y="0"/>
                  </a:moveTo>
                  <a:lnTo>
                    <a:pt x="6311188" y="0"/>
                  </a:lnTo>
                  <a:lnTo>
                    <a:pt x="6311188" y="520940"/>
                  </a:lnTo>
                  <a:lnTo>
                    <a:pt x="0" y="520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913" r="0" b="-18520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311189" cy="530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AND LONG-TERM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2685623" y="7553381"/>
            <a:ext cx="5039019" cy="244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930" indent="-173465" lvl="1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Leak-driven road failures traced to the leak reduce both water loss and material waste.</a:t>
            </a:r>
          </a:p>
          <a:p>
            <a:pPr algn="l" marL="346930" indent="-173465" lvl="1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Ward-level history becomes the base layer for predictive maintenance and smart-city planning.</a:t>
            </a:r>
          </a:p>
          <a:p>
            <a:pPr algn="l" marL="346930" indent="-173465" lvl="1">
              <a:lnSpc>
                <a:spcPts val="2453"/>
              </a:lnSpc>
              <a:buFont typeface="Arial"/>
              <a:buChar char="•"/>
            </a:pPr>
            <a:r>
              <a:rPr lang="en-US" sz="191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Repairs sequenced behind their cause mean less material dug up, poured and dug up again.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Team 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GEEK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SQUAD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6932" y="1660149"/>
            <a:ext cx="10235501" cy="415932"/>
            <a:chOff x="0" y="0"/>
            <a:chExt cx="12893040" cy="5239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3040" cy="523925"/>
            </a:xfrm>
            <a:custGeom>
              <a:avLst/>
              <a:gdLst/>
              <a:ahLst/>
              <a:cxnLst/>
              <a:rect r="r" b="b" t="t" l="l"/>
              <a:pathLst>
                <a:path h="523925" w="12893040">
                  <a:moveTo>
                    <a:pt x="0" y="0"/>
                  </a:moveTo>
                  <a:lnTo>
                    <a:pt x="12893040" y="0"/>
                  </a:lnTo>
                  <a:lnTo>
                    <a:pt x="12893040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630" r="0" b="-42836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893040" cy="5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EXISTING LANDSCAPE — AND WHAT EACH ONE DOES NOT DO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9370" y="2165726"/>
            <a:ext cx="10250625" cy="1728299"/>
            <a:chOff x="0" y="0"/>
            <a:chExt cx="12912090" cy="21770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12090" cy="2177034"/>
            </a:xfrm>
            <a:custGeom>
              <a:avLst/>
              <a:gdLst/>
              <a:ahLst/>
              <a:cxnLst/>
              <a:rect r="r" b="b" t="t" l="l"/>
              <a:pathLst>
                <a:path h="2177034" w="12912090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25374" y="2347509"/>
            <a:ext cx="9538616" cy="364112"/>
            <a:chOff x="0" y="0"/>
            <a:chExt cx="12015216" cy="458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15216" cy="458650"/>
            </a:xfrm>
            <a:custGeom>
              <a:avLst/>
              <a:gdLst/>
              <a:ahLst/>
              <a:cxnLst/>
              <a:rect r="r" b="b" t="t" l="l"/>
              <a:pathLst>
                <a:path h="45865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458650"/>
                  </a:lnTo>
                  <a:lnTo>
                    <a:pt x="0" y="458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599" r="0" b="-4582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015216" cy="47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CPGRAMS  ·  IGMS 2.0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5374" y="2681434"/>
            <a:ext cx="9538616" cy="580738"/>
            <a:chOff x="0" y="0"/>
            <a:chExt cx="12015216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15216" cy="731520"/>
            </a:xfrm>
            <a:custGeom>
              <a:avLst/>
              <a:gdLst/>
              <a:ahLst/>
              <a:cxnLst/>
              <a:rect r="r" b="b" t="t" l="l"/>
              <a:pathLst>
                <a:path h="73152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041" r="0" b="-2700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India's national grievance platform: registration, routing, tracking, appeals, and — since the IIT Kanpur upgrade; AI department prediction, semantic search and category-level root-cause analytics.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5374" y="3247653"/>
            <a:ext cx="9538616" cy="551701"/>
            <a:chOff x="0" y="0"/>
            <a:chExt cx="12015216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15216" cy="694944"/>
            </a:xfrm>
            <a:custGeom>
              <a:avLst/>
              <a:gdLst/>
              <a:ahLst/>
              <a:cxnLst/>
              <a:rect r="r" b="b" t="t" l="l"/>
              <a:pathLst>
                <a:path h="694944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86" r="0" b="-2868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 b="true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Text-first and administrative. No image evidence, no citizen GPS coordinate, and its root-cause view is aggregated for policy, not attached to the individual case an officer is about to act 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69370" y="4024087"/>
            <a:ext cx="10250625" cy="1728299"/>
            <a:chOff x="0" y="0"/>
            <a:chExt cx="12912090" cy="21770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12090" cy="2177034"/>
            </a:xfrm>
            <a:custGeom>
              <a:avLst/>
              <a:gdLst/>
              <a:ahLst/>
              <a:cxnLst/>
              <a:rect r="r" b="b" t="t" l="l"/>
              <a:pathLst>
                <a:path h="2177034" w="12912090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25374" y="4205870"/>
            <a:ext cx="9538616" cy="364112"/>
            <a:chOff x="0" y="0"/>
            <a:chExt cx="12015216" cy="458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15216" cy="458650"/>
            </a:xfrm>
            <a:custGeom>
              <a:avLst/>
              <a:gdLst/>
              <a:ahLst/>
              <a:cxnLst/>
              <a:rect r="r" b="b" t="t" l="l"/>
              <a:pathLst>
                <a:path h="45865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458650"/>
                  </a:lnTo>
                  <a:lnTo>
                    <a:pt x="0" y="458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599" r="0" b="-4582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015216" cy="47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Swachhata-MoHUA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5374" y="4539794"/>
            <a:ext cx="9538616" cy="580738"/>
            <a:chOff x="0" y="0"/>
            <a:chExt cx="12015216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15216" cy="731520"/>
            </a:xfrm>
            <a:custGeom>
              <a:avLst/>
              <a:gdLst/>
              <a:ahLst/>
              <a:cxnLst/>
              <a:rect r="r" b="b" t="t" l="l"/>
              <a:pathLst>
                <a:path h="73152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041" r="0" b="-27004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Photo-and-location civic reporting to urban local bodies, with 1.7 crore-plus registered users; complaints route to the ward sanitary inspector.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5374" y="5106013"/>
            <a:ext cx="9538616" cy="551701"/>
            <a:chOff x="0" y="0"/>
            <a:chExt cx="12015216" cy="694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015216" cy="694944"/>
            </a:xfrm>
            <a:custGeom>
              <a:avLst/>
              <a:gdLst/>
              <a:ahLst/>
              <a:cxnLst/>
              <a:rect r="r" b="b" t="t" l="l"/>
              <a:pathLst>
                <a:path h="694944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86" r="0" b="-2868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 b="true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Reporting and routing only. Each post is an independent ticket; no spatial de-duplication, no recurrence memory, no priority reasoning.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69370" y="5882447"/>
            <a:ext cx="10250625" cy="1728299"/>
            <a:chOff x="0" y="0"/>
            <a:chExt cx="12912090" cy="21770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912090" cy="2177034"/>
            </a:xfrm>
            <a:custGeom>
              <a:avLst/>
              <a:gdLst/>
              <a:ahLst/>
              <a:cxnLst/>
              <a:rect r="r" b="b" t="t" l="l"/>
              <a:pathLst>
                <a:path h="2177034" w="12912090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12727560" y="0"/>
                  </a:lnTo>
                  <a:cubicBezTo>
                    <a:pt x="12829413" y="0"/>
                    <a:pt x="12912090" y="82550"/>
                    <a:pt x="12912090" y="184531"/>
                  </a:cubicBezTo>
                  <a:lnTo>
                    <a:pt x="12912090" y="1992503"/>
                  </a:lnTo>
                  <a:cubicBezTo>
                    <a:pt x="12912090" y="2094357"/>
                    <a:pt x="12829540" y="2177034"/>
                    <a:pt x="12727560" y="2177034"/>
                  </a:cubicBezTo>
                  <a:lnTo>
                    <a:pt x="184531" y="2177034"/>
                  </a:lnTo>
                  <a:cubicBezTo>
                    <a:pt x="82550" y="2177034"/>
                    <a:pt x="0" y="2094484"/>
                    <a:pt x="0" y="199250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25374" y="6064230"/>
            <a:ext cx="9538616" cy="403663"/>
            <a:chOff x="0" y="0"/>
            <a:chExt cx="12015216" cy="5084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015216" cy="508470"/>
            </a:xfrm>
            <a:custGeom>
              <a:avLst/>
              <a:gdLst/>
              <a:ahLst/>
              <a:cxnLst/>
              <a:rect r="r" b="b" t="t" l="l"/>
              <a:pathLst>
                <a:path h="50847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508470"/>
                  </a:lnTo>
                  <a:lnTo>
                    <a:pt x="0" y="508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274" r="0" b="-4035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2015216" cy="517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9"/>
                </a:lnSpc>
              </a:pPr>
              <a:r>
                <a:rPr lang="en-US" sz="1974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eGov Foundation / DIGIT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5374" y="6398155"/>
            <a:ext cx="9538616" cy="580738"/>
            <a:chOff x="0" y="0"/>
            <a:chExt cx="12015216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015216" cy="731520"/>
            </a:xfrm>
            <a:custGeom>
              <a:avLst/>
              <a:gdLst/>
              <a:ahLst/>
              <a:cxnLst/>
              <a:rect r="r" b="b" t="t" l="l"/>
              <a:pathLst>
                <a:path h="731520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1250" r="0" b="-7712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2015216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574">
                  <a:solidFill>
                    <a:srgbClr val="40566D"/>
                  </a:solidFill>
                  <a:latin typeface="Arial"/>
                  <a:ea typeface="Arial"/>
                  <a:cs typeface="Arial"/>
                  <a:sym typeface="Arial"/>
                </a:rPr>
                <a:t>Open-source public-service infrastructure providing the registries, workflow and service rails many states build on.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25374" y="6964374"/>
            <a:ext cx="9538616" cy="551701"/>
            <a:chOff x="0" y="0"/>
            <a:chExt cx="12015216" cy="694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015216" cy="694944"/>
            </a:xfrm>
            <a:custGeom>
              <a:avLst/>
              <a:gdLst/>
              <a:ahLst/>
              <a:cxnLst/>
              <a:rect r="r" b="b" t="t" l="l"/>
              <a:pathLst>
                <a:path h="694944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86" r="0" b="-2868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201521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2"/>
                </a:lnSpc>
              </a:pPr>
              <a:r>
                <a:rPr lang="en-US" sz="1474" b="true">
                  <a:solidFill>
                    <a:srgbClr val="A8261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Gap:  </a:t>
              </a:r>
              <a:r>
                <a:rPr lang="en-US" sz="1474">
                  <a:solidFill>
                    <a:srgbClr val="1B2C3E"/>
                  </a:solidFill>
                  <a:latin typeface="Arial"/>
                  <a:ea typeface="Arial"/>
                  <a:cs typeface="Arial"/>
                  <a:sym typeface="Arial"/>
                </a:rPr>
                <a:t>A platform for transactions and workflow; the intelligence that reads evidence and ranks cases is left to whoever builds on top.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69370" y="7798882"/>
            <a:ext cx="10250625" cy="2076742"/>
            <a:chOff x="0" y="0"/>
            <a:chExt cx="12912090" cy="261594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12217" cy="2615946"/>
            </a:xfrm>
            <a:custGeom>
              <a:avLst/>
              <a:gdLst/>
              <a:ahLst/>
              <a:cxnLst/>
              <a:rect r="r" b="b" t="t" l="l"/>
              <a:pathLst>
                <a:path h="2615946" w="12912217">
                  <a:moveTo>
                    <a:pt x="0" y="184277"/>
                  </a:moveTo>
                  <a:cubicBezTo>
                    <a:pt x="0" y="82423"/>
                    <a:pt x="82423" y="0"/>
                    <a:pt x="184277" y="0"/>
                  </a:cubicBezTo>
                  <a:lnTo>
                    <a:pt x="12727940" y="0"/>
                  </a:lnTo>
                  <a:cubicBezTo>
                    <a:pt x="12829667" y="0"/>
                    <a:pt x="12912217" y="82423"/>
                    <a:pt x="12912217" y="184277"/>
                  </a:cubicBezTo>
                  <a:lnTo>
                    <a:pt x="12912217" y="2431669"/>
                  </a:lnTo>
                  <a:cubicBezTo>
                    <a:pt x="12912217" y="2533396"/>
                    <a:pt x="12829794" y="2615946"/>
                    <a:pt x="12727940" y="2615946"/>
                  </a:cubicBezTo>
                  <a:lnTo>
                    <a:pt x="184277" y="2615946"/>
                  </a:lnTo>
                  <a:cubicBezTo>
                    <a:pt x="82423" y="2615946"/>
                    <a:pt x="0" y="2533523"/>
                    <a:pt x="0" y="2431669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25374" y="7972697"/>
            <a:ext cx="9538616" cy="406516"/>
            <a:chOff x="0" y="0"/>
            <a:chExt cx="12015216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015216" cy="512064"/>
            </a:xfrm>
            <a:custGeom>
              <a:avLst/>
              <a:gdLst/>
              <a:ahLst/>
              <a:cxnLst/>
              <a:rect r="r" b="b" t="t" l="l"/>
              <a:pathLst>
                <a:path h="512064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202" r="0" b="-4072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201521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b="true" sz="1924" spc="117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EVIDENCE BASE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25374" y="8455413"/>
            <a:ext cx="9538616" cy="1253942"/>
            <a:chOff x="0" y="0"/>
            <a:chExt cx="12015216" cy="15795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15216" cy="1579515"/>
            </a:xfrm>
            <a:custGeom>
              <a:avLst/>
              <a:gdLst/>
              <a:ahLst/>
              <a:cxnLst/>
              <a:rect r="r" b="b" t="t" l="l"/>
              <a:pathLst>
                <a:path h="1579515" w="12015216">
                  <a:moveTo>
                    <a:pt x="0" y="0"/>
                  </a:moveTo>
                  <a:lnTo>
                    <a:pt x="12015216" y="0"/>
                  </a:lnTo>
                  <a:lnTo>
                    <a:pt x="12015216" y="1579515"/>
                  </a:lnTo>
                  <a:lnTo>
                    <a:pt x="0" y="1579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50" r="0" b="-9569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2015216" cy="1608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8"/>
                </a:lnSpc>
              </a:pPr>
              <a:r>
                <a:rPr lang="en-US" sz="1474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9,438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pothole-crash deaths, 2020–24, of which Uttar Pradesh accounts for 5,127 (MoRTH). </a:t>
              </a:r>
              <a:r>
                <a:rPr lang="en-US" sz="1474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 lakh+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grievances a year on CPGRAMS, with average central disposal down to 15 days; yet reported satisfaction sits near half (DARPG; IMPRI).  </a:t>
              </a:r>
              <a:r>
                <a:rPr lang="en-US" sz="1474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37%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staff vacancy and a 42% gap between what urban local bodies need and what they earn, across 393 audited bodies (CAG, 2024).  </a:t>
              </a:r>
              <a:r>
                <a:rPr lang="en-US" sz="1474" b="true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49–65%</a:t>
              </a:r>
              <a:r>
                <a:rPr lang="en-US" sz="147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non-revenue water in audited cities; the buried failure that keeps re-surfacing as a road complaint.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853314" y="1643062"/>
            <a:ext cx="7191589" cy="2976885"/>
            <a:chOff x="0" y="0"/>
            <a:chExt cx="9058808" cy="374980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58783" cy="3749802"/>
            </a:xfrm>
            <a:custGeom>
              <a:avLst/>
              <a:gdLst/>
              <a:ahLst/>
              <a:cxnLst/>
              <a:rect r="r" b="b" t="t" l="l"/>
              <a:pathLst>
                <a:path h="3749802" w="9058783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8875014" y="0"/>
                  </a:lnTo>
                  <a:cubicBezTo>
                    <a:pt x="8976487" y="0"/>
                    <a:pt x="9058783" y="82296"/>
                    <a:pt x="9058783" y="183769"/>
                  </a:cubicBezTo>
                  <a:lnTo>
                    <a:pt x="9058783" y="3566033"/>
                  </a:lnTo>
                  <a:cubicBezTo>
                    <a:pt x="9058783" y="3667506"/>
                    <a:pt x="8976487" y="3749802"/>
                    <a:pt x="8875014" y="3749802"/>
                  </a:cubicBezTo>
                  <a:lnTo>
                    <a:pt x="183769" y="3749802"/>
                  </a:lnTo>
                  <a:cubicBezTo>
                    <a:pt x="82296" y="3749802"/>
                    <a:pt x="0" y="3667506"/>
                    <a:pt x="0" y="3566033"/>
                  </a:cubicBezTo>
                  <a:close/>
                </a:path>
              </a:pathLst>
            </a:custGeom>
            <a:solidFill>
              <a:srgbClr val="0B2545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209318" y="1911956"/>
            <a:ext cx="6479581" cy="415932"/>
            <a:chOff x="0" y="0"/>
            <a:chExt cx="8161934" cy="5239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61934" cy="523925"/>
            </a:xfrm>
            <a:custGeom>
              <a:avLst/>
              <a:gdLst/>
              <a:ahLst/>
              <a:cxnLst/>
              <a:rect r="r" b="b" t="t" l="l"/>
              <a:pathLst>
                <a:path h="523925" w="8161934">
                  <a:moveTo>
                    <a:pt x="0" y="0"/>
                  </a:moveTo>
                  <a:lnTo>
                    <a:pt x="8161934" y="0"/>
                  </a:lnTo>
                  <a:lnTo>
                    <a:pt x="8161934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8" r="0" b="-25241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8161934" cy="5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DE7B1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RESEARCH GAP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9318" y="2405583"/>
            <a:ext cx="6479581" cy="1974508"/>
            <a:chOff x="0" y="0"/>
            <a:chExt cx="8161934" cy="24871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61934" cy="2487168"/>
            </a:xfrm>
            <a:custGeom>
              <a:avLst/>
              <a:gdLst/>
              <a:ahLst/>
              <a:cxnLst/>
              <a:rect r="r" b="b" t="t" l="l"/>
              <a:pathLst>
                <a:path h="2487168" w="8161934">
                  <a:moveTo>
                    <a:pt x="0" y="0"/>
                  </a:moveTo>
                  <a:lnTo>
                    <a:pt x="8161934" y="0"/>
                  </a:lnTo>
                  <a:lnTo>
                    <a:pt x="8161934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2" r="0" b="-1394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161934" cy="2534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0"/>
                </a:lnSpc>
              </a:pP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Existing systems are excellent at moving a grievance from 'pending' to 'closed'. None of them, at the level of the individual case, combine </a:t>
              </a:r>
              <a:r>
                <a:rPr lang="en-US" sz="17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image evidence, a precise coordinate and the location's own repair history</a:t>
              </a: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into one explainable judgement about what to do next. That is the layer NexGenGov builds; and it is designed to sit </a:t>
              </a:r>
              <a:r>
                <a:rPr lang="en-US" sz="1724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 top of</a:t>
              </a:r>
              <a:r>
                <a:rPr lang="en-US" sz="1724">
                  <a:solidFill>
                    <a:srgbClr val="D2E0EE"/>
                  </a:solidFill>
                  <a:latin typeface="Arial"/>
                  <a:ea typeface="Arial"/>
                  <a:cs typeface="Arial"/>
                  <a:sym typeface="Arial"/>
                </a:rPr>
                <a:t> these systems, not compete with them.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853314" y="4808083"/>
            <a:ext cx="7191589" cy="2367111"/>
            <a:chOff x="0" y="0"/>
            <a:chExt cx="9058808" cy="29817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058783" cy="2981706"/>
            </a:xfrm>
            <a:custGeom>
              <a:avLst/>
              <a:gdLst/>
              <a:ahLst/>
              <a:cxnLst/>
              <a:rect r="r" b="b" t="t" l="l"/>
              <a:pathLst>
                <a:path h="2981706" w="9058783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8874760" y="0"/>
                  </a:lnTo>
                  <a:cubicBezTo>
                    <a:pt x="8976360" y="0"/>
                    <a:pt x="9058783" y="82423"/>
                    <a:pt x="9058783" y="184023"/>
                  </a:cubicBezTo>
                  <a:lnTo>
                    <a:pt x="9058783" y="2797683"/>
                  </a:lnTo>
                  <a:cubicBezTo>
                    <a:pt x="9058783" y="2899283"/>
                    <a:pt x="8976360" y="2981706"/>
                    <a:pt x="8874760" y="2981706"/>
                  </a:cubicBezTo>
                  <a:lnTo>
                    <a:pt x="184023" y="2981706"/>
                  </a:lnTo>
                  <a:cubicBezTo>
                    <a:pt x="82423" y="2981706"/>
                    <a:pt x="0" y="2899283"/>
                    <a:pt x="0" y="2797683"/>
                  </a:cubicBezTo>
                  <a:close/>
                </a:path>
              </a:pathLst>
            </a:custGeom>
            <a:solidFill>
              <a:srgbClr val="F1F5FA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209318" y="5076976"/>
            <a:ext cx="6479581" cy="415932"/>
            <a:chOff x="0" y="0"/>
            <a:chExt cx="8161934" cy="52392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61934" cy="523925"/>
            </a:xfrm>
            <a:custGeom>
              <a:avLst/>
              <a:gdLst/>
              <a:ahLst/>
              <a:cxnLst/>
              <a:rect r="r" b="b" t="t" l="l"/>
              <a:pathLst>
                <a:path h="523925" w="8161934">
                  <a:moveTo>
                    <a:pt x="0" y="0"/>
                  </a:moveTo>
                  <a:lnTo>
                    <a:pt x="8161934" y="0"/>
                  </a:lnTo>
                  <a:lnTo>
                    <a:pt x="8161934" y="523925"/>
                  </a:lnTo>
                  <a:lnTo>
                    <a:pt x="0" y="5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8" r="0" b="-25241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8161934" cy="5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b="true" sz="2024" spc="123">
                  <a:solidFill>
                    <a:srgbClr val="1B6FB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DIRECTION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53314" y="7363329"/>
            <a:ext cx="7191589" cy="2663537"/>
            <a:chOff x="0" y="0"/>
            <a:chExt cx="9058808" cy="3355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58783" cy="3355096"/>
            </a:xfrm>
            <a:custGeom>
              <a:avLst/>
              <a:gdLst/>
              <a:ahLst/>
              <a:cxnLst/>
              <a:rect r="r" b="b" t="t" l="l"/>
              <a:pathLst>
                <a:path h="3355096" w="9058783">
                  <a:moveTo>
                    <a:pt x="0" y="195101"/>
                  </a:moveTo>
                  <a:cubicBezTo>
                    <a:pt x="0" y="87385"/>
                    <a:pt x="82423" y="0"/>
                    <a:pt x="184023" y="0"/>
                  </a:cubicBezTo>
                  <a:lnTo>
                    <a:pt x="8874760" y="0"/>
                  </a:lnTo>
                  <a:cubicBezTo>
                    <a:pt x="8976360" y="0"/>
                    <a:pt x="9058783" y="87385"/>
                    <a:pt x="9058783" y="195101"/>
                  </a:cubicBezTo>
                  <a:lnTo>
                    <a:pt x="9058783" y="3159995"/>
                  </a:lnTo>
                  <a:cubicBezTo>
                    <a:pt x="9058783" y="3267711"/>
                    <a:pt x="8976360" y="3355096"/>
                    <a:pt x="8874760" y="3355096"/>
                  </a:cubicBezTo>
                  <a:lnTo>
                    <a:pt x="184023" y="3355096"/>
                  </a:lnTo>
                  <a:cubicBezTo>
                    <a:pt x="82423" y="3355096"/>
                    <a:pt x="0" y="3267711"/>
                    <a:pt x="0" y="3159995"/>
                  </a:cubicBezTo>
                  <a:close/>
                </a:path>
              </a:pathLst>
            </a:custGeom>
            <a:solidFill>
              <a:srgbClr val="E9F0F7"/>
            </a:solidFill>
            <a:ln w="14288" cap="sq">
              <a:solidFill>
                <a:srgbClr val="DCE4E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209318" y="7479994"/>
            <a:ext cx="6479581" cy="406516"/>
            <a:chOff x="0" y="0"/>
            <a:chExt cx="8161934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61934" cy="512064"/>
            </a:xfrm>
            <a:custGeom>
              <a:avLst/>
              <a:gdLst/>
              <a:ahLst/>
              <a:cxnLst/>
              <a:rect r="r" b="b" t="t" l="l"/>
              <a:pathLst>
                <a:path h="512064" w="8161934">
                  <a:moveTo>
                    <a:pt x="0" y="0"/>
                  </a:moveTo>
                  <a:lnTo>
                    <a:pt x="8161934" y="0"/>
                  </a:lnTo>
                  <a:lnTo>
                    <a:pt x="816193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577" r="0" b="-26057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816193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b="true" sz="1824" spc="111">
                  <a:solidFill>
                    <a:srgbClr val="0E7C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209318" y="5511959"/>
            <a:ext cx="6479581" cy="155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9057" indent="-144529" lvl="1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Multimodal understanding of civic reports (text + image + coordinate)</a:t>
            </a:r>
          </a:p>
          <a:p>
            <a:pPr algn="l" marL="289057" indent="-144529" lvl="1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Spatio-temporal clustering for de-duplication and recurrence detection</a:t>
            </a:r>
          </a:p>
          <a:p>
            <a:pPr algn="l" marL="289057" indent="-144529" lvl="1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Explainable, evidence-linked priority and risk scoring</a:t>
            </a:r>
          </a:p>
          <a:p>
            <a:pPr algn="l" marL="289057" indent="-144529" lvl="1">
              <a:lnSpc>
                <a:spcPts val="2043"/>
              </a:lnSpc>
              <a:buFont typeface="Arial"/>
              <a:buChar char="•"/>
            </a:pPr>
            <a:r>
              <a:rPr lang="en-US" sz="1597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Human-in-the-loop AI governance under the NIST AI RMF and its Generative AI Profile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209318" y="7841944"/>
            <a:ext cx="6479581" cy="215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817" indent="-135908" lvl="1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DARPG - CPGRAMS Annual Report 2025; monthly State/UT reports (darpg.gov.in · pgportal.gov.in)</a:t>
            </a:r>
          </a:p>
          <a:p>
            <a:pPr algn="l" marL="271817" indent="-135908" lvl="1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MoRTH - pothole-crash fatality data tabled in Parliament, 2020–2024</a:t>
            </a:r>
          </a:p>
          <a:p>
            <a:pPr algn="l" marL="271817" indent="-135908" lvl="1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CAG - Compendium of audit reports on urban local bodies, 2024 (393 ULBs, 18 states)</a:t>
            </a:r>
          </a:p>
          <a:p>
            <a:pPr algn="l" marL="271817" indent="-135908" lvl="1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NIST AI Risk Management Framework 1.0 and Generative AI Profile (NIST AI 600-1)</a:t>
            </a:r>
          </a:p>
          <a:p>
            <a:pPr algn="l" marL="271817" indent="-135908" lvl="1">
              <a:lnSpc>
                <a:spcPts val="1923"/>
              </a:lnSpc>
              <a:buFont typeface="Arial"/>
              <a:buChar char="•"/>
            </a:pPr>
            <a:r>
              <a:rPr lang="en-US" sz="1501">
                <a:solidFill>
                  <a:srgbClr val="1B2C3E"/>
                </a:solidFill>
                <a:latin typeface="Arial"/>
                <a:ea typeface="Arial"/>
                <a:cs typeface="Arial"/>
                <a:sym typeface="Arial"/>
              </a:rPr>
              <a:t>eGov Foundation DIGIT documentation - MoHUA Swachhata-MoHUA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DAHS2IHPv2Y</dc:identifier>
  <dcterms:modified xsi:type="dcterms:W3CDTF">2011-08-01T06:04:30Z</dcterms:modified>
  <cp:revision>1</cp:revision>
  <dc:title>SIH_26_093_GeekSquad</dc:title>
</cp:coreProperties>
</file>